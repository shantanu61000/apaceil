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 id="2147483774" r:id="rId2"/>
  </p:sldMasterIdLst>
  <p:notesMasterIdLst>
    <p:notesMasterId r:id="rId20"/>
  </p:notesMasterIdLst>
  <p:sldIdLst>
    <p:sldId id="301" r:id="rId3"/>
    <p:sldId id="279" r:id="rId4"/>
    <p:sldId id="305" r:id="rId5"/>
    <p:sldId id="282" r:id="rId6"/>
    <p:sldId id="281" r:id="rId7"/>
    <p:sldId id="280" r:id="rId8"/>
    <p:sldId id="286" r:id="rId9"/>
    <p:sldId id="290" r:id="rId10"/>
    <p:sldId id="291" r:id="rId11"/>
    <p:sldId id="307" r:id="rId12"/>
    <p:sldId id="284" r:id="rId13"/>
    <p:sldId id="295" r:id="rId14"/>
    <p:sldId id="302" r:id="rId15"/>
    <p:sldId id="306" r:id="rId16"/>
    <p:sldId id="304" r:id="rId17"/>
    <p:sldId id="308" r:id="rId18"/>
    <p:sldId id="27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BC7716-895B-4020-96CC-B2A518054F37}">
          <p14:sldIdLst>
            <p14:sldId id="301"/>
            <p14:sldId id="279"/>
            <p14:sldId id="305"/>
            <p14:sldId id="282"/>
            <p14:sldId id="281"/>
            <p14:sldId id="280"/>
            <p14:sldId id="286"/>
            <p14:sldId id="290"/>
            <p14:sldId id="291"/>
            <p14:sldId id="307"/>
            <p14:sldId id="284"/>
            <p14:sldId id="295"/>
            <p14:sldId id="302"/>
            <p14:sldId id="306"/>
            <p14:sldId id="304"/>
            <p14:sldId id="308"/>
          </p14:sldIdLst>
        </p14:section>
        <p14:section name="Thank You" id="{CE3085AF-1226-4E55-9472-59B2BA5F3E54}">
          <p14:sldIdLst>
            <p14:sldId id="277"/>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prabhat Pathak" initials="SP" lastIdx="2" clrIdx="0">
    <p:extLst>
      <p:ext uri="{19B8F6BF-5375-455C-9EA6-DF929625EA0E}">
        <p15:presenceInfo xmlns:p15="http://schemas.microsoft.com/office/powerpoint/2012/main" userId="S::suprabhat.pathak@apacfin.com::0fe118ac-33d2-4cb8-8b53-db82e3c51ae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1" autoAdjust="0"/>
    <p:restoredTop sz="94660"/>
  </p:normalViewPr>
  <p:slideViewPr>
    <p:cSldViewPr snapToGrid="0">
      <p:cViewPr varScale="1">
        <p:scale>
          <a:sx n="64" d="100"/>
          <a:sy n="64" d="100"/>
        </p:scale>
        <p:origin x="9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4-29T16:48:05.877" idx="2">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3A1C8E-4098-4CAD-80FD-1364618E30F8}" type="datetimeFigureOut">
              <a:rPr lang="en-US" smtClean="0"/>
              <a:t>4/30/2020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F615BA-2695-45DB-8792-1D1A27A11661}" type="slidenum">
              <a:rPr lang="en-US" smtClean="0"/>
              <a:t>‹#›</a:t>
            </a:fld>
            <a:endParaRPr lang="en-US"/>
          </a:p>
        </p:txBody>
      </p:sp>
    </p:spTree>
    <p:extLst>
      <p:ext uri="{BB962C8B-B14F-4D97-AF65-F5344CB8AC3E}">
        <p14:creationId xmlns:p14="http://schemas.microsoft.com/office/powerpoint/2010/main" val="4275708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mbria" panose="02040503050406030204" pitchFamily="18" charset="0"/>
                <a:ea typeface="Cambria" panose="02040503050406030204" pitchFamily="18" charset="0"/>
              </a:rPr>
              <a:t>Documents establishing the ownership/title are referred as </a:t>
            </a:r>
            <a:r>
              <a:rPr lang="en-US" sz="1200" u="sng" dirty="0">
                <a:latin typeface="Cambria" panose="02040503050406030204" pitchFamily="18" charset="0"/>
                <a:ea typeface="Cambria" panose="02040503050406030204" pitchFamily="18" charset="0"/>
              </a:rPr>
              <a:t>title documents</a:t>
            </a:r>
            <a:r>
              <a:rPr lang="en-US" sz="1200" dirty="0">
                <a:latin typeface="Cambria" panose="02040503050406030204" pitchFamily="18" charset="0"/>
                <a:ea typeface="Cambria" panose="02040503050406030204" pitchFamily="18" charset="0"/>
              </a:rPr>
              <a:t> such as current and previous sale deeds, conveyance deeds, Patta etc.. Chain has to be established</a:t>
            </a:r>
          </a:p>
          <a:p>
            <a:endParaRPr lang="en-US" dirty="0"/>
          </a:p>
        </p:txBody>
      </p:sp>
      <p:sp>
        <p:nvSpPr>
          <p:cNvPr id="4" name="Slide Number Placeholder 3"/>
          <p:cNvSpPr>
            <a:spLocks noGrp="1"/>
          </p:cNvSpPr>
          <p:nvPr>
            <p:ph type="sldNum" sz="quarter" idx="5"/>
          </p:nvPr>
        </p:nvSpPr>
        <p:spPr/>
        <p:txBody>
          <a:bodyPr/>
          <a:lstStyle/>
          <a:p>
            <a:fld id="{B7F615BA-2695-45DB-8792-1D1A27A11661}" type="slidenum">
              <a:rPr lang="en-US" smtClean="0"/>
              <a:t>5</a:t>
            </a:fld>
            <a:endParaRPr lang="en-US"/>
          </a:p>
        </p:txBody>
      </p:sp>
    </p:spTree>
    <p:extLst>
      <p:ext uri="{BB962C8B-B14F-4D97-AF65-F5344CB8AC3E}">
        <p14:creationId xmlns:p14="http://schemas.microsoft.com/office/powerpoint/2010/main" val="3079524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F615BA-2695-45DB-8792-1D1A27A11661}" type="slidenum">
              <a:rPr lang="en-US" smtClean="0"/>
              <a:t>6</a:t>
            </a:fld>
            <a:endParaRPr lang="en-US"/>
          </a:p>
        </p:txBody>
      </p:sp>
    </p:spTree>
    <p:extLst>
      <p:ext uri="{BB962C8B-B14F-4D97-AF65-F5344CB8AC3E}">
        <p14:creationId xmlns:p14="http://schemas.microsoft.com/office/powerpoint/2010/main" val="741282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RCU, Lawyer, Valuer</a:t>
            </a:r>
          </a:p>
        </p:txBody>
      </p:sp>
      <p:sp>
        <p:nvSpPr>
          <p:cNvPr id="4" name="Slide Number Placeholder 3"/>
          <p:cNvSpPr>
            <a:spLocks noGrp="1"/>
          </p:cNvSpPr>
          <p:nvPr>
            <p:ph type="sldNum" sz="quarter" idx="5"/>
          </p:nvPr>
        </p:nvSpPr>
        <p:spPr/>
        <p:txBody>
          <a:bodyPr/>
          <a:lstStyle/>
          <a:p>
            <a:fld id="{B7F615BA-2695-45DB-8792-1D1A27A11661}" type="slidenum">
              <a:rPr lang="en-US" smtClean="0"/>
              <a:t>7</a:t>
            </a:fld>
            <a:endParaRPr lang="en-US"/>
          </a:p>
        </p:txBody>
      </p:sp>
    </p:spTree>
    <p:extLst>
      <p:ext uri="{BB962C8B-B14F-4D97-AF65-F5344CB8AC3E}">
        <p14:creationId xmlns:p14="http://schemas.microsoft.com/office/powerpoint/2010/main" val="2734594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mbria" panose="02040503050406030204" pitchFamily="18" charset="0"/>
                <a:ea typeface="Cambria" panose="02040503050406030204" pitchFamily="18" charset="0"/>
              </a:rPr>
              <a:t>Bank statement, Income proof, salary slip, IT returns, repayment track record, KYC documents, Counter party agreement with OYO/other partners underwriting and assessing the loan</a:t>
            </a:r>
            <a:endParaRPr lang="en-US" sz="1200" dirty="0"/>
          </a:p>
        </p:txBody>
      </p:sp>
      <p:sp>
        <p:nvSpPr>
          <p:cNvPr id="4" name="Slide Number Placeholder 3"/>
          <p:cNvSpPr>
            <a:spLocks noGrp="1"/>
          </p:cNvSpPr>
          <p:nvPr>
            <p:ph type="sldNum" sz="quarter" idx="5"/>
          </p:nvPr>
        </p:nvSpPr>
        <p:spPr/>
        <p:txBody>
          <a:bodyPr/>
          <a:lstStyle/>
          <a:p>
            <a:fld id="{B7F615BA-2695-45DB-8792-1D1A27A11661}" type="slidenum">
              <a:rPr lang="en-US" smtClean="0"/>
              <a:t>8</a:t>
            </a:fld>
            <a:endParaRPr lang="en-US"/>
          </a:p>
        </p:txBody>
      </p:sp>
    </p:spTree>
    <p:extLst>
      <p:ext uri="{BB962C8B-B14F-4D97-AF65-F5344CB8AC3E}">
        <p14:creationId xmlns:p14="http://schemas.microsoft.com/office/powerpoint/2010/main" val="2400395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concept applies to other businesses as well, promoter’s equity/margin of investment by business owners in the business</a:t>
            </a:r>
          </a:p>
        </p:txBody>
      </p:sp>
      <p:sp>
        <p:nvSpPr>
          <p:cNvPr id="4" name="Slide Number Placeholder 3"/>
          <p:cNvSpPr>
            <a:spLocks noGrp="1"/>
          </p:cNvSpPr>
          <p:nvPr>
            <p:ph type="sldNum" sz="quarter" idx="5"/>
          </p:nvPr>
        </p:nvSpPr>
        <p:spPr/>
        <p:txBody>
          <a:bodyPr/>
          <a:lstStyle/>
          <a:p>
            <a:fld id="{B7F615BA-2695-45DB-8792-1D1A27A11661}" type="slidenum">
              <a:rPr lang="en-US" smtClean="0"/>
              <a:t>9</a:t>
            </a:fld>
            <a:endParaRPr lang="en-US"/>
          </a:p>
        </p:txBody>
      </p:sp>
    </p:spTree>
    <p:extLst>
      <p:ext uri="{BB962C8B-B14F-4D97-AF65-F5344CB8AC3E}">
        <p14:creationId xmlns:p14="http://schemas.microsoft.com/office/powerpoint/2010/main" val="2303073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13E30-2F77-442E-BAB5-F54362D231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8CD540-E220-46BF-9DD6-D0EACFD78D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62114D-D401-4A3C-8E20-B49B4F0F8316}"/>
              </a:ext>
            </a:extLst>
          </p:cNvPr>
          <p:cNvSpPr>
            <a:spLocks noGrp="1"/>
          </p:cNvSpPr>
          <p:nvPr>
            <p:ph type="dt" sz="half" idx="10"/>
          </p:nvPr>
        </p:nvSpPr>
        <p:spPr/>
        <p:txBody>
          <a:bodyPr/>
          <a:lstStyle/>
          <a:p>
            <a:fld id="{D414A41D-6462-4A03-BB6E-748FB933279C}" type="datetime1">
              <a:rPr lang="en-US" smtClean="0"/>
              <a:t>4/30/2020</a:t>
            </a:fld>
            <a:endParaRPr lang="en-US"/>
          </a:p>
        </p:txBody>
      </p:sp>
      <p:sp>
        <p:nvSpPr>
          <p:cNvPr id="5" name="Footer Placeholder 4">
            <a:extLst>
              <a:ext uri="{FF2B5EF4-FFF2-40B4-BE49-F238E27FC236}">
                <a16:creationId xmlns:a16="http://schemas.microsoft.com/office/drawing/2014/main" id="{D5FC2B9D-C9D8-4487-8641-E0E1BA44A6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976AC-710D-4171-A0A5-B01D3EFC784F}"/>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3183315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16E5A-D3A7-4CB6-BE82-90D83AD91D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CEF18A-B043-4666-ADCC-33A68DEAD89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B82C8A-FD53-4F8A-BBD4-01960E253D40}"/>
              </a:ext>
            </a:extLst>
          </p:cNvPr>
          <p:cNvSpPr>
            <a:spLocks noGrp="1"/>
          </p:cNvSpPr>
          <p:nvPr>
            <p:ph type="dt" sz="half" idx="10"/>
          </p:nvPr>
        </p:nvSpPr>
        <p:spPr/>
        <p:txBody>
          <a:bodyPr/>
          <a:lstStyle/>
          <a:p>
            <a:fld id="{98EA2703-0CD5-413F-8BD6-79B5A24B061C}" type="datetime1">
              <a:rPr lang="en-US" smtClean="0"/>
              <a:t>4/30/2020</a:t>
            </a:fld>
            <a:endParaRPr lang="en-US"/>
          </a:p>
        </p:txBody>
      </p:sp>
      <p:sp>
        <p:nvSpPr>
          <p:cNvPr id="5" name="Footer Placeholder 4">
            <a:extLst>
              <a:ext uri="{FF2B5EF4-FFF2-40B4-BE49-F238E27FC236}">
                <a16:creationId xmlns:a16="http://schemas.microsoft.com/office/drawing/2014/main" id="{89E06C15-251B-4594-BA17-D98E7E224A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9C8CF-1218-4628-A8B6-123E9A9CF9C1}"/>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710714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79AB7-F043-4499-B8EF-9D48CD95A2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C223EA8-4A80-418D-8C61-32E80A7AB4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EA8AF39-F4D8-47BA-98AD-E0ABC89F048E}"/>
              </a:ext>
            </a:extLst>
          </p:cNvPr>
          <p:cNvSpPr>
            <a:spLocks noGrp="1"/>
          </p:cNvSpPr>
          <p:nvPr>
            <p:ph type="dt" sz="half" idx="10"/>
          </p:nvPr>
        </p:nvSpPr>
        <p:spPr/>
        <p:txBody>
          <a:bodyPr/>
          <a:lstStyle/>
          <a:p>
            <a:fld id="{6C3C21E6-AAAB-4288-88B1-40E948DA1CB7}" type="datetime1">
              <a:rPr lang="en-US" smtClean="0"/>
              <a:t>4/30/2020</a:t>
            </a:fld>
            <a:endParaRPr lang="en-US"/>
          </a:p>
        </p:txBody>
      </p:sp>
      <p:sp>
        <p:nvSpPr>
          <p:cNvPr id="5" name="Footer Placeholder 4">
            <a:extLst>
              <a:ext uri="{FF2B5EF4-FFF2-40B4-BE49-F238E27FC236}">
                <a16:creationId xmlns:a16="http://schemas.microsoft.com/office/drawing/2014/main" id="{9F112F47-3AC6-4C08-AA4C-C8EEAB301E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AB9807-9A67-4ADB-A37F-FAE8462635FE}"/>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557785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CAE85-0E64-49D3-AFD6-FE8905FDF8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828B4F-D114-43FF-B5D2-924B11ABD26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92DE8E-AACC-434A-A2A7-FBBB85EFD75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2A42FE-DD6E-4405-A6F3-DB777B85E914}"/>
              </a:ext>
            </a:extLst>
          </p:cNvPr>
          <p:cNvSpPr>
            <a:spLocks noGrp="1"/>
          </p:cNvSpPr>
          <p:nvPr>
            <p:ph type="dt" sz="half" idx="10"/>
          </p:nvPr>
        </p:nvSpPr>
        <p:spPr/>
        <p:txBody>
          <a:bodyPr/>
          <a:lstStyle/>
          <a:p>
            <a:fld id="{22005B9C-3A3C-4D60-ABB9-FB65495FFADE}" type="datetime1">
              <a:rPr lang="en-US" smtClean="0"/>
              <a:t>4/30/2020</a:t>
            </a:fld>
            <a:endParaRPr lang="en-US"/>
          </a:p>
        </p:txBody>
      </p:sp>
      <p:sp>
        <p:nvSpPr>
          <p:cNvPr id="6" name="Footer Placeholder 5">
            <a:extLst>
              <a:ext uri="{FF2B5EF4-FFF2-40B4-BE49-F238E27FC236}">
                <a16:creationId xmlns:a16="http://schemas.microsoft.com/office/drawing/2014/main" id="{CAB6BF56-DEA7-43E8-BD4E-EE6B0C875B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2AA3C-90D4-48BF-AC38-010A126EA140}"/>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1464345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3AB22-10DC-4BEF-9311-8BAD937E53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F7D0F3-4C6A-4F9F-9794-F500069D52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2C39E2-74C6-4231-9CDD-58E4C1A3BEB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76156D-6861-4361-922B-AD9E3E303C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D353D0C-8518-4298-984B-E2E8146CDA6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BE3ECEE-2276-49BC-8B35-6202FB1A02D6}"/>
              </a:ext>
            </a:extLst>
          </p:cNvPr>
          <p:cNvSpPr>
            <a:spLocks noGrp="1"/>
          </p:cNvSpPr>
          <p:nvPr>
            <p:ph type="dt" sz="half" idx="10"/>
          </p:nvPr>
        </p:nvSpPr>
        <p:spPr/>
        <p:txBody>
          <a:bodyPr/>
          <a:lstStyle/>
          <a:p>
            <a:fld id="{4E663395-8A0E-482A-8657-C7BD528BDE97}" type="datetime1">
              <a:rPr lang="en-US" smtClean="0"/>
              <a:t>4/30/2020</a:t>
            </a:fld>
            <a:endParaRPr lang="en-US"/>
          </a:p>
        </p:txBody>
      </p:sp>
      <p:sp>
        <p:nvSpPr>
          <p:cNvPr id="8" name="Footer Placeholder 7">
            <a:extLst>
              <a:ext uri="{FF2B5EF4-FFF2-40B4-BE49-F238E27FC236}">
                <a16:creationId xmlns:a16="http://schemas.microsoft.com/office/drawing/2014/main" id="{21DC66CB-7B5C-407D-8A05-468913B411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F34FA6-398F-40C8-BF06-AA4C62630CC3}"/>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1536647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CFF56-B781-427D-8446-CA0F6BA10E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3E5DBB-FE83-4439-A4DC-7850187B06CA}"/>
              </a:ext>
            </a:extLst>
          </p:cNvPr>
          <p:cNvSpPr>
            <a:spLocks noGrp="1"/>
          </p:cNvSpPr>
          <p:nvPr>
            <p:ph type="dt" sz="half" idx="10"/>
          </p:nvPr>
        </p:nvSpPr>
        <p:spPr/>
        <p:txBody>
          <a:bodyPr/>
          <a:lstStyle/>
          <a:p>
            <a:fld id="{C422B1DC-41AE-4C0F-B6E6-691D73BDBFE0}" type="datetime1">
              <a:rPr lang="en-US" smtClean="0"/>
              <a:t>4/30/2020</a:t>
            </a:fld>
            <a:endParaRPr lang="en-US"/>
          </a:p>
        </p:txBody>
      </p:sp>
      <p:sp>
        <p:nvSpPr>
          <p:cNvPr id="4" name="Footer Placeholder 3">
            <a:extLst>
              <a:ext uri="{FF2B5EF4-FFF2-40B4-BE49-F238E27FC236}">
                <a16:creationId xmlns:a16="http://schemas.microsoft.com/office/drawing/2014/main" id="{5C7763DE-66B0-456A-99FF-70954F769B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22B0CE-4A3C-4C6B-92C0-90504A255F72}"/>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3922435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E85058-5754-463B-A3C3-5FD41C96EBCE}"/>
              </a:ext>
            </a:extLst>
          </p:cNvPr>
          <p:cNvSpPr>
            <a:spLocks noGrp="1"/>
          </p:cNvSpPr>
          <p:nvPr>
            <p:ph type="dt" sz="half" idx="10"/>
          </p:nvPr>
        </p:nvSpPr>
        <p:spPr/>
        <p:txBody>
          <a:bodyPr/>
          <a:lstStyle/>
          <a:p>
            <a:fld id="{FC975588-CA71-4810-AF3E-7FB3AE926D0C}" type="datetime1">
              <a:rPr lang="en-US" smtClean="0"/>
              <a:t>4/30/2020</a:t>
            </a:fld>
            <a:endParaRPr lang="en-US"/>
          </a:p>
        </p:txBody>
      </p:sp>
      <p:sp>
        <p:nvSpPr>
          <p:cNvPr id="3" name="Footer Placeholder 2">
            <a:extLst>
              <a:ext uri="{FF2B5EF4-FFF2-40B4-BE49-F238E27FC236}">
                <a16:creationId xmlns:a16="http://schemas.microsoft.com/office/drawing/2014/main" id="{3D443BB7-1346-4EB8-88BC-ED0D9DFCDA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2F0138-B698-4408-80C0-702D2005FDF6}"/>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3169679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47ADF-DFAB-4A46-9C49-032CD7F5AD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C30744-86C7-4B99-A99B-C164B364F2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819A91-DB0E-49E9-A463-BFD0A3337E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600F46B-2482-4430-97CC-69A5E079D94A}"/>
              </a:ext>
            </a:extLst>
          </p:cNvPr>
          <p:cNvSpPr>
            <a:spLocks noGrp="1"/>
          </p:cNvSpPr>
          <p:nvPr>
            <p:ph type="dt" sz="half" idx="10"/>
          </p:nvPr>
        </p:nvSpPr>
        <p:spPr/>
        <p:txBody>
          <a:bodyPr/>
          <a:lstStyle/>
          <a:p>
            <a:fld id="{66B644C4-9AE4-44EB-929D-A0CBB221D3BE}" type="datetime1">
              <a:rPr lang="en-US" smtClean="0"/>
              <a:t>4/30/2020</a:t>
            </a:fld>
            <a:endParaRPr lang="en-US"/>
          </a:p>
        </p:txBody>
      </p:sp>
      <p:sp>
        <p:nvSpPr>
          <p:cNvPr id="6" name="Footer Placeholder 5">
            <a:extLst>
              <a:ext uri="{FF2B5EF4-FFF2-40B4-BE49-F238E27FC236}">
                <a16:creationId xmlns:a16="http://schemas.microsoft.com/office/drawing/2014/main" id="{A133AFAA-B70C-4F1F-9B39-A4AE3A0668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ED23BD-871B-4022-9C0E-74D89C822B76}"/>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2022639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873BF-14D9-4506-99C5-1C987EB5C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90D8F9-F699-433A-9947-B39D403AE4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588BDC-C17F-42F1-B84D-165F294BA5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1A2C0AD-1D91-47CD-84FB-0B2A378B5CCD}"/>
              </a:ext>
            </a:extLst>
          </p:cNvPr>
          <p:cNvSpPr>
            <a:spLocks noGrp="1"/>
          </p:cNvSpPr>
          <p:nvPr>
            <p:ph type="dt" sz="half" idx="10"/>
          </p:nvPr>
        </p:nvSpPr>
        <p:spPr/>
        <p:txBody>
          <a:bodyPr/>
          <a:lstStyle/>
          <a:p>
            <a:fld id="{ABB29A41-8A4A-44B9-861F-1FD1D8AD093F}" type="datetime1">
              <a:rPr lang="en-US" smtClean="0"/>
              <a:t>4/30/2020</a:t>
            </a:fld>
            <a:endParaRPr lang="en-US"/>
          </a:p>
        </p:txBody>
      </p:sp>
      <p:sp>
        <p:nvSpPr>
          <p:cNvPr id="6" name="Footer Placeholder 5">
            <a:extLst>
              <a:ext uri="{FF2B5EF4-FFF2-40B4-BE49-F238E27FC236}">
                <a16:creationId xmlns:a16="http://schemas.microsoft.com/office/drawing/2014/main" id="{9A63A662-28BA-4794-9288-6CE9E392D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A70F8D-B33F-4CA9-AE8E-2E8A30AC3935}"/>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4172139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663DC-C9FA-4951-ABAD-393C19BF7A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581A9D-780D-4FC1-8BDD-AE02CDA00E6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66C92F-4A3A-4502-847D-E155B9DD9463}"/>
              </a:ext>
            </a:extLst>
          </p:cNvPr>
          <p:cNvSpPr>
            <a:spLocks noGrp="1"/>
          </p:cNvSpPr>
          <p:nvPr>
            <p:ph type="dt" sz="half" idx="10"/>
          </p:nvPr>
        </p:nvSpPr>
        <p:spPr/>
        <p:txBody>
          <a:bodyPr/>
          <a:lstStyle/>
          <a:p>
            <a:fld id="{EA98B090-E19D-47BB-BFEC-FB1D41C57230}" type="datetime1">
              <a:rPr lang="en-US" smtClean="0"/>
              <a:t>4/30/2020</a:t>
            </a:fld>
            <a:endParaRPr lang="en-US"/>
          </a:p>
        </p:txBody>
      </p:sp>
      <p:sp>
        <p:nvSpPr>
          <p:cNvPr id="5" name="Footer Placeholder 4">
            <a:extLst>
              <a:ext uri="{FF2B5EF4-FFF2-40B4-BE49-F238E27FC236}">
                <a16:creationId xmlns:a16="http://schemas.microsoft.com/office/drawing/2014/main" id="{2B1F91F1-A2E1-4193-9C79-698252890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888339-9840-479D-B225-E3894C17C717}"/>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1204720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0F36C1-1CDF-48AE-96A9-C672BBFD8B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DC9551-DCE5-4D21-B04E-140E115700C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87CCCE-B4D4-48C3-BE08-90E1C4B81917}"/>
              </a:ext>
            </a:extLst>
          </p:cNvPr>
          <p:cNvSpPr>
            <a:spLocks noGrp="1"/>
          </p:cNvSpPr>
          <p:nvPr>
            <p:ph type="dt" sz="half" idx="10"/>
          </p:nvPr>
        </p:nvSpPr>
        <p:spPr/>
        <p:txBody>
          <a:bodyPr/>
          <a:lstStyle/>
          <a:p>
            <a:fld id="{76D7E613-E4BA-4421-8BB1-10D3CF0684B9}" type="datetime1">
              <a:rPr lang="en-US" smtClean="0"/>
              <a:t>4/30/2020</a:t>
            </a:fld>
            <a:endParaRPr lang="en-US"/>
          </a:p>
        </p:txBody>
      </p:sp>
      <p:sp>
        <p:nvSpPr>
          <p:cNvPr id="5" name="Footer Placeholder 4">
            <a:extLst>
              <a:ext uri="{FF2B5EF4-FFF2-40B4-BE49-F238E27FC236}">
                <a16:creationId xmlns:a16="http://schemas.microsoft.com/office/drawing/2014/main" id="{C409830B-3D21-4FF7-9D9D-D9C107023B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4C447-CA60-4E78-8E04-9D9ECA77EE7C}"/>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980546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BCBAB-316C-4EC8-8B61-EEDEE867FB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E7AD90-6982-4346-A2E3-D0CE79EB95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BCBDC4-D251-429C-874D-3AC00899A7A0}"/>
              </a:ext>
            </a:extLst>
          </p:cNvPr>
          <p:cNvSpPr>
            <a:spLocks noGrp="1"/>
          </p:cNvSpPr>
          <p:nvPr>
            <p:ph type="dt" sz="half" idx="10"/>
          </p:nvPr>
        </p:nvSpPr>
        <p:spPr/>
        <p:txBody>
          <a:bodyPr/>
          <a:lstStyle/>
          <a:p>
            <a:fld id="{294F3BA9-70B4-46C7-9963-343DAC84FED7}" type="datetime1">
              <a:rPr lang="en-US" smtClean="0"/>
              <a:t>4/30/2020</a:t>
            </a:fld>
            <a:endParaRPr lang="en-US"/>
          </a:p>
        </p:txBody>
      </p:sp>
      <p:sp>
        <p:nvSpPr>
          <p:cNvPr id="5" name="Footer Placeholder 4">
            <a:extLst>
              <a:ext uri="{FF2B5EF4-FFF2-40B4-BE49-F238E27FC236}">
                <a16:creationId xmlns:a16="http://schemas.microsoft.com/office/drawing/2014/main" id="{75F4AD98-6BE9-45AD-85A1-6C4E53F3D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A0A34D-B6D7-4E6D-8120-3B837C8C87A8}"/>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2514492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38441-3827-4128-A23B-9627683DD7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8DA98C-F5CB-4D07-BDF4-378D0D43DD0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EE11DF-9421-410C-B75B-7CC95738EC6B}"/>
              </a:ext>
            </a:extLst>
          </p:cNvPr>
          <p:cNvSpPr>
            <a:spLocks noGrp="1"/>
          </p:cNvSpPr>
          <p:nvPr>
            <p:ph type="dt" sz="half" idx="10"/>
          </p:nvPr>
        </p:nvSpPr>
        <p:spPr/>
        <p:txBody>
          <a:bodyPr/>
          <a:lstStyle/>
          <a:p>
            <a:fld id="{D08BAA53-30C4-40A6-AFD4-A498A52D4534}" type="datetime1">
              <a:rPr lang="en-US" smtClean="0"/>
              <a:t>4/30/2020</a:t>
            </a:fld>
            <a:endParaRPr lang="en-US"/>
          </a:p>
        </p:txBody>
      </p:sp>
      <p:sp>
        <p:nvSpPr>
          <p:cNvPr id="5" name="Footer Placeholder 4">
            <a:extLst>
              <a:ext uri="{FF2B5EF4-FFF2-40B4-BE49-F238E27FC236}">
                <a16:creationId xmlns:a16="http://schemas.microsoft.com/office/drawing/2014/main" id="{1ACC5BE7-42F6-464A-A6FD-ECD5A291BD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CF1B51-568F-448E-BE63-21E2D5921C26}"/>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1143433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F8303-E001-443E-81A2-637D83FC68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4D45BB4-B2A7-431A-8CE9-E22B4FF959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473AD3A-B93A-42ED-8607-400E90BD808F}"/>
              </a:ext>
            </a:extLst>
          </p:cNvPr>
          <p:cNvSpPr>
            <a:spLocks noGrp="1"/>
          </p:cNvSpPr>
          <p:nvPr>
            <p:ph type="dt" sz="half" idx="10"/>
          </p:nvPr>
        </p:nvSpPr>
        <p:spPr/>
        <p:txBody>
          <a:bodyPr/>
          <a:lstStyle/>
          <a:p>
            <a:fld id="{D6F6C464-5F8C-4EE6-B31E-3AB39E12719B}" type="datetime1">
              <a:rPr lang="en-US" smtClean="0"/>
              <a:t>4/30/2020</a:t>
            </a:fld>
            <a:endParaRPr lang="en-US"/>
          </a:p>
        </p:txBody>
      </p:sp>
      <p:sp>
        <p:nvSpPr>
          <p:cNvPr id="5" name="Footer Placeholder 4">
            <a:extLst>
              <a:ext uri="{FF2B5EF4-FFF2-40B4-BE49-F238E27FC236}">
                <a16:creationId xmlns:a16="http://schemas.microsoft.com/office/drawing/2014/main" id="{59CCA7FC-4B85-4FC0-820F-4A26F57750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7CD46-4C1F-49DE-B4A7-3AC02C88371D}"/>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466527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CFA5C-85D8-4DB4-881C-52CF7CB8A1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46EAB6-D835-458C-9512-2ADF4F21542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43F75C-0EE0-43F9-B2F1-6D655C591CF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A3CFF6-9D5A-414B-9292-5FE92567AEDC}"/>
              </a:ext>
            </a:extLst>
          </p:cNvPr>
          <p:cNvSpPr>
            <a:spLocks noGrp="1"/>
          </p:cNvSpPr>
          <p:nvPr>
            <p:ph type="dt" sz="half" idx="10"/>
          </p:nvPr>
        </p:nvSpPr>
        <p:spPr/>
        <p:txBody>
          <a:bodyPr/>
          <a:lstStyle/>
          <a:p>
            <a:fld id="{66E8FFF0-0463-4A55-91D2-7F99CCCE9338}" type="datetime1">
              <a:rPr lang="en-US" smtClean="0"/>
              <a:t>4/30/2020</a:t>
            </a:fld>
            <a:endParaRPr lang="en-US"/>
          </a:p>
        </p:txBody>
      </p:sp>
      <p:sp>
        <p:nvSpPr>
          <p:cNvPr id="6" name="Footer Placeholder 5">
            <a:extLst>
              <a:ext uri="{FF2B5EF4-FFF2-40B4-BE49-F238E27FC236}">
                <a16:creationId xmlns:a16="http://schemas.microsoft.com/office/drawing/2014/main" id="{29A95081-D99A-486C-929A-5C64CFB762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87BE92-CD76-453D-9D89-3964937983B7}"/>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24853945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E598-6AEA-4E47-983A-E2F6BE129A4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490147-0C28-41DB-B474-4E7155936C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05E16A2-1C51-46C2-B5B5-56A89F81724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E18B89-14F2-4536-A3BC-70BA3EDE68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5691D2A-1ED7-40D7-8B79-0CABC5462F4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9D94E9-B9E9-48DC-9FA6-424FF7F1CF66}"/>
              </a:ext>
            </a:extLst>
          </p:cNvPr>
          <p:cNvSpPr>
            <a:spLocks noGrp="1"/>
          </p:cNvSpPr>
          <p:nvPr>
            <p:ph type="dt" sz="half" idx="10"/>
          </p:nvPr>
        </p:nvSpPr>
        <p:spPr/>
        <p:txBody>
          <a:bodyPr/>
          <a:lstStyle/>
          <a:p>
            <a:fld id="{CD63192A-988D-4F90-B722-42371E21A753}" type="datetime1">
              <a:rPr lang="en-US" smtClean="0"/>
              <a:t>4/30/2020</a:t>
            </a:fld>
            <a:endParaRPr lang="en-US"/>
          </a:p>
        </p:txBody>
      </p:sp>
      <p:sp>
        <p:nvSpPr>
          <p:cNvPr id="8" name="Footer Placeholder 7">
            <a:extLst>
              <a:ext uri="{FF2B5EF4-FFF2-40B4-BE49-F238E27FC236}">
                <a16:creationId xmlns:a16="http://schemas.microsoft.com/office/drawing/2014/main" id="{C833CCA1-9DDA-4016-BC26-A068C7595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44127E-C479-45CD-95B1-B6B6D6BA8FAD}"/>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2523690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E3EFE-D294-4518-BA4C-A59A56B2BF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5D15DC-F9E7-43C5-85D0-D4224AD09F3D}"/>
              </a:ext>
            </a:extLst>
          </p:cNvPr>
          <p:cNvSpPr>
            <a:spLocks noGrp="1"/>
          </p:cNvSpPr>
          <p:nvPr>
            <p:ph type="dt" sz="half" idx="10"/>
          </p:nvPr>
        </p:nvSpPr>
        <p:spPr/>
        <p:txBody>
          <a:bodyPr/>
          <a:lstStyle/>
          <a:p>
            <a:fld id="{ABB26835-6225-46C3-8195-84C601D20E4B}" type="datetime1">
              <a:rPr lang="en-US" smtClean="0"/>
              <a:t>4/30/2020</a:t>
            </a:fld>
            <a:endParaRPr lang="en-US"/>
          </a:p>
        </p:txBody>
      </p:sp>
      <p:sp>
        <p:nvSpPr>
          <p:cNvPr id="4" name="Footer Placeholder 3">
            <a:extLst>
              <a:ext uri="{FF2B5EF4-FFF2-40B4-BE49-F238E27FC236}">
                <a16:creationId xmlns:a16="http://schemas.microsoft.com/office/drawing/2014/main" id="{6984FF6D-4B81-4007-A78B-B746B65DED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467309-947A-4D5E-ADD4-029503B1D073}"/>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15059282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27055B-EF64-4E80-ABE4-8E16DD9D501A}"/>
              </a:ext>
            </a:extLst>
          </p:cNvPr>
          <p:cNvSpPr>
            <a:spLocks noGrp="1"/>
          </p:cNvSpPr>
          <p:nvPr>
            <p:ph type="dt" sz="half" idx="10"/>
          </p:nvPr>
        </p:nvSpPr>
        <p:spPr/>
        <p:txBody>
          <a:bodyPr/>
          <a:lstStyle/>
          <a:p>
            <a:fld id="{05D8A242-D2BA-4386-9C9D-E617EF5C496E}" type="datetime1">
              <a:rPr lang="en-US" smtClean="0"/>
              <a:t>4/30/2020</a:t>
            </a:fld>
            <a:endParaRPr lang="en-US"/>
          </a:p>
        </p:txBody>
      </p:sp>
      <p:sp>
        <p:nvSpPr>
          <p:cNvPr id="3" name="Footer Placeholder 2">
            <a:extLst>
              <a:ext uri="{FF2B5EF4-FFF2-40B4-BE49-F238E27FC236}">
                <a16:creationId xmlns:a16="http://schemas.microsoft.com/office/drawing/2014/main" id="{5E466DA9-963B-40BA-9DCF-B7A856EDF7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FAFE7-C068-4C16-B8DC-BBF2CC46558F}"/>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30914839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DD659-DF27-43CE-B2D0-ACF83B4AD4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20F159-AE40-4E1B-B47F-7AF78390DB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9F3389-966C-40CF-A42C-0DB86EE670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51C095-AE77-4731-A4EE-53CB6BBAD2F3}"/>
              </a:ext>
            </a:extLst>
          </p:cNvPr>
          <p:cNvSpPr>
            <a:spLocks noGrp="1"/>
          </p:cNvSpPr>
          <p:nvPr>
            <p:ph type="dt" sz="half" idx="10"/>
          </p:nvPr>
        </p:nvSpPr>
        <p:spPr/>
        <p:txBody>
          <a:bodyPr/>
          <a:lstStyle/>
          <a:p>
            <a:fld id="{8CF454CD-BF74-4DB1-87D7-D4BA36FBFF5B}" type="datetime1">
              <a:rPr lang="en-US" smtClean="0"/>
              <a:t>4/30/2020</a:t>
            </a:fld>
            <a:endParaRPr lang="en-US"/>
          </a:p>
        </p:txBody>
      </p:sp>
      <p:sp>
        <p:nvSpPr>
          <p:cNvPr id="6" name="Footer Placeholder 5">
            <a:extLst>
              <a:ext uri="{FF2B5EF4-FFF2-40B4-BE49-F238E27FC236}">
                <a16:creationId xmlns:a16="http://schemas.microsoft.com/office/drawing/2014/main" id="{FC4DE1A0-9AA7-4F39-8DEF-309FBDC9BA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A417F8-9E85-48D4-A42B-5B04D74C9DD3}"/>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23814738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8E42-EE0E-4D31-8778-F961167859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C912917-0238-4B7C-A236-EC7C78EA41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F9F466E-C523-4FF3-8AF7-502B15A3E3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AB178EA-D982-480D-B2B4-B752F745287A}"/>
              </a:ext>
            </a:extLst>
          </p:cNvPr>
          <p:cNvSpPr>
            <a:spLocks noGrp="1"/>
          </p:cNvSpPr>
          <p:nvPr>
            <p:ph type="dt" sz="half" idx="10"/>
          </p:nvPr>
        </p:nvSpPr>
        <p:spPr/>
        <p:txBody>
          <a:bodyPr/>
          <a:lstStyle/>
          <a:p>
            <a:fld id="{AA60A414-2930-4BDB-8962-E632DA7B72D1}" type="datetime1">
              <a:rPr lang="en-US" smtClean="0"/>
              <a:t>4/30/2020</a:t>
            </a:fld>
            <a:endParaRPr lang="en-US"/>
          </a:p>
        </p:txBody>
      </p:sp>
      <p:sp>
        <p:nvSpPr>
          <p:cNvPr id="6" name="Footer Placeholder 5">
            <a:extLst>
              <a:ext uri="{FF2B5EF4-FFF2-40B4-BE49-F238E27FC236}">
                <a16:creationId xmlns:a16="http://schemas.microsoft.com/office/drawing/2014/main" id="{EDC0BB85-45DC-4CDB-8DE8-E3861B0832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FB551-9A26-4231-B4F5-8D0DE009DC53}"/>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1272767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349CB-0010-496E-8FE5-73E9F93D39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8F66FB-5C2D-40D7-B4CF-2B187719FFF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4EAAAB-819A-4706-A01C-A53E3BD47A1A}"/>
              </a:ext>
            </a:extLst>
          </p:cNvPr>
          <p:cNvSpPr>
            <a:spLocks noGrp="1"/>
          </p:cNvSpPr>
          <p:nvPr>
            <p:ph type="dt" sz="half" idx="10"/>
          </p:nvPr>
        </p:nvSpPr>
        <p:spPr/>
        <p:txBody>
          <a:bodyPr/>
          <a:lstStyle/>
          <a:p>
            <a:fld id="{1BB93331-55A7-46D7-8D7A-64F7B65BA154}" type="datetime1">
              <a:rPr lang="en-US" smtClean="0"/>
              <a:t>4/30/2020</a:t>
            </a:fld>
            <a:endParaRPr lang="en-US"/>
          </a:p>
        </p:txBody>
      </p:sp>
      <p:sp>
        <p:nvSpPr>
          <p:cNvPr id="5" name="Footer Placeholder 4">
            <a:extLst>
              <a:ext uri="{FF2B5EF4-FFF2-40B4-BE49-F238E27FC236}">
                <a16:creationId xmlns:a16="http://schemas.microsoft.com/office/drawing/2014/main" id="{DE941BA3-77F9-4257-AA29-3D38143541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747057-F3AD-4B69-8151-D01759E82F12}"/>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32746420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3A7F64-739E-4E2E-ABDD-BB60B4B2B6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32B183-48AF-48FE-8EDD-64EAB17BB51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CFE3DA-0555-46EA-89D2-74B559166E00}"/>
              </a:ext>
            </a:extLst>
          </p:cNvPr>
          <p:cNvSpPr>
            <a:spLocks noGrp="1"/>
          </p:cNvSpPr>
          <p:nvPr>
            <p:ph type="dt" sz="half" idx="10"/>
          </p:nvPr>
        </p:nvSpPr>
        <p:spPr/>
        <p:txBody>
          <a:bodyPr/>
          <a:lstStyle/>
          <a:p>
            <a:fld id="{7B87E49F-7AC5-4A62-9316-55AA18C2D7E8}" type="datetime1">
              <a:rPr lang="en-US" smtClean="0"/>
              <a:t>4/30/2020</a:t>
            </a:fld>
            <a:endParaRPr lang="en-US"/>
          </a:p>
        </p:txBody>
      </p:sp>
      <p:sp>
        <p:nvSpPr>
          <p:cNvPr id="5" name="Footer Placeholder 4">
            <a:extLst>
              <a:ext uri="{FF2B5EF4-FFF2-40B4-BE49-F238E27FC236}">
                <a16:creationId xmlns:a16="http://schemas.microsoft.com/office/drawing/2014/main" id="{EF0D3DFD-D9BF-4DBE-AFF0-08AB54027C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6C166-5695-4286-96D3-C41763AC8F05}"/>
              </a:ext>
            </a:extLst>
          </p:cNvPr>
          <p:cNvSpPr>
            <a:spLocks noGrp="1"/>
          </p:cNvSpPr>
          <p:nvPr>
            <p:ph type="sldNum" sz="quarter" idx="12"/>
          </p:nvPr>
        </p:nvSpPr>
        <p:spPr/>
        <p:txBody>
          <a:bodyPr/>
          <a:lstStyle/>
          <a:p>
            <a:fld id="{4AA01191-0D54-4503-942B-A80E3AB8E296}" type="slidenum">
              <a:rPr lang="en-US" smtClean="0"/>
              <a:t>‹#›</a:t>
            </a:fld>
            <a:endParaRPr lang="en-US"/>
          </a:p>
        </p:txBody>
      </p:sp>
    </p:spTree>
    <p:extLst>
      <p:ext uri="{BB962C8B-B14F-4D97-AF65-F5344CB8AC3E}">
        <p14:creationId xmlns:p14="http://schemas.microsoft.com/office/powerpoint/2010/main" val="258902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38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E04E21-C2CE-44C2-9979-EB9B72CF99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2D306E-DE34-4800-B625-01C891E7AB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3905DE-99B8-4DDC-B1D9-EDE8E52AA9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C2273D-A90C-4B9B-96BD-A17003634DE2}" type="datetime1">
              <a:rPr lang="en-US" smtClean="0"/>
              <a:t>4/30/2020</a:t>
            </a:fld>
            <a:endParaRPr lang="en-US"/>
          </a:p>
        </p:txBody>
      </p:sp>
      <p:sp>
        <p:nvSpPr>
          <p:cNvPr id="5" name="Footer Placeholder 4">
            <a:extLst>
              <a:ext uri="{FF2B5EF4-FFF2-40B4-BE49-F238E27FC236}">
                <a16:creationId xmlns:a16="http://schemas.microsoft.com/office/drawing/2014/main" id="{6BA1BB7E-E59E-49E3-8B64-080B2D7264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EFE9BB9-35A9-477A-992A-D690C088C0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01191-0D54-4503-942B-A80E3AB8E296}" type="slidenum">
              <a:rPr lang="en-US" smtClean="0"/>
              <a:t>‹#›</a:t>
            </a:fld>
            <a:endParaRPr lang="en-US"/>
          </a:p>
        </p:txBody>
      </p:sp>
    </p:spTree>
    <p:extLst>
      <p:ext uri="{BB962C8B-B14F-4D97-AF65-F5344CB8AC3E}">
        <p14:creationId xmlns:p14="http://schemas.microsoft.com/office/powerpoint/2010/main" val="2765643095"/>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alpha val="38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793849-E0A2-455A-BB21-9EB9C90538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BD5EE-03E3-4215-9176-24F43D830E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FF6D58-3FC3-4DBA-992B-78DF6C2FD8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2D3F7A-0562-4B56-8D56-948A2C8B0EB3}" type="datetime1">
              <a:rPr lang="en-US" smtClean="0"/>
              <a:t>4/30/2020</a:t>
            </a:fld>
            <a:endParaRPr lang="en-US"/>
          </a:p>
        </p:txBody>
      </p:sp>
      <p:sp>
        <p:nvSpPr>
          <p:cNvPr id="5" name="Footer Placeholder 4">
            <a:extLst>
              <a:ext uri="{FF2B5EF4-FFF2-40B4-BE49-F238E27FC236}">
                <a16:creationId xmlns:a16="http://schemas.microsoft.com/office/drawing/2014/main" id="{1828B677-BE73-426C-8647-1AEC7769B9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C762746-DB3F-4AC4-BA2D-FD86F1A78C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01191-0D54-4503-942B-A80E3AB8E296}" type="slidenum">
              <a:rPr lang="en-US" smtClean="0"/>
              <a:t>‹#›</a:t>
            </a:fld>
            <a:endParaRPr lang="en-US"/>
          </a:p>
        </p:txBody>
      </p:sp>
    </p:spTree>
    <p:extLst>
      <p:ext uri="{BB962C8B-B14F-4D97-AF65-F5344CB8AC3E}">
        <p14:creationId xmlns:p14="http://schemas.microsoft.com/office/powerpoint/2010/main" val="1057332150"/>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cid:image001.jpg@01D609F3.3DB6A050"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cid:image001.jpg@01D609F3.3DB6A05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cid:image001.jpg@01D609F3.3DB6A050"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cid:image001.jpg@01D609F3.3DB6A050" TargetMode="Externa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cid:image001.jpg@01D609F3.3DB6A050" TargetMode="External"/><Relationship Id="rId5" Type="http://schemas.openxmlformats.org/officeDocument/2006/relationships/image" Target="../media/image2.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cid:image001.jpg@01D609F3.3DB6A050" TargetMode="Externa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image" Target="cid:image001.jpg@01D609F3.3DB6A050" TargetMode="Externa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cid:image001.jpg@01D609F3.3DB6A050" TargetMode="Externa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cid:image001.jpg@01D609F3.3DB6A05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cid:image001.jpg@01D609F3.3DB6A050"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cid:image001.jpg@01D609F3.3DB6A050"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cid:image001.jpg@01D609F3.3DB6A050"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cid:image001.jpg@01D609F3.3DB6A050"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mailto:whistleblower@apacfin.co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cid:image001.jpg@01D609F3.3DB6A050"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12.xml"/><Relationship Id="rId4" Type="http://schemas.openxmlformats.org/officeDocument/2006/relationships/image" Target="cid:image001.jpg@01D609F3.3DB6A05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lose up of a device&#10;&#10;Description automatically generated">
            <a:extLst>
              <a:ext uri="{FF2B5EF4-FFF2-40B4-BE49-F238E27FC236}">
                <a16:creationId xmlns:a16="http://schemas.microsoft.com/office/drawing/2014/main" id="{C868C2B4-FF5C-4306-94A4-49DDEB4A344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893" r="440"/>
          <a:stretch/>
        </p:blipFill>
        <p:spPr>
          <a:xfrm>
            <a:off x="0" y="1"/>
            <a:ext cx="12191980" cy="4572000"/>
          </a:xfrm>
          <a:prstGeom prst="rect">
            <a:avLst/>
          </a:prstGeom>
        </p:spPr>
      </p:pic>
      <p:sp>
        <p:nvSpPr>
          <p:cNvPr id="26" name="Rectangle 19">
            <a:extLst>
              <a:ext uri="{FF2B5EF4-FFF2-40B4-BE49-F238E27FC236}">
                <a16:creationId xmlns:a16="http://schemas.microsoft.com/office/drawing/2014/main" id="{F40CA114-B78B-4E3B-A785-96745276B6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457"/>
            <a:ext cx="12192000" cy="2285543"/>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27" name="Straight Connector 21">
            <a:extLst>
              <a:ext uri="{FF2B5EF4-FFF2-40B4-BE49-F238E27FC236}">
                <a16:creationId xmlns:a16="http://schemas.microsoft.com/office/drawing/2014/main" id="{E126E481-B945-4179-BD79-05E96E9B29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C6E6516-9076-4FDE-9CD8-1028F0085D87}"/>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pic>
        <p:nvPicPr>
          <p:cNvPr id="13" name="Picture 12">
            <a:extLst>
              <a:ext uri="{FF2B5EF4-FFF2-40B4-BE49-F238E27FC236}">
                <a16:creationId xmlns:a16="http://schemas.microsoft.com/office/drawing/2014/main" id="{86F396F7-A7CF-4AFE-BC14-E631B4BFC013}"/>
              </a:ext>
            </a:extLst>
          </p:cNvPr>
          <p:cNvPicPr>
            <a:picLocks noChangeAspect="1"/>
          </p:cNvPicPr>
          <p:nvPr/>
        </p:nvPicPr>
        <p:blipFill rotWithShape="1">
          <a:blip r:embed="rId5">
            <a:extLst>
              <a:ext uri="{28A0092B-C50C-407E-A947-70E740481C1C}">
                <a14:useLocalDpi xmlns:a14="http://schemas.microsoft.com/office/drawing/2010/main" val="0"/>
              </a:ext>
            </a:extLst>
          </a:blip>
          <a:stretch/>
        </p:blipFill>
        <p:spPr>
          <a:xfrm>
            <a:off x="11016526" y="0"/>
            <a:ext cx="1175474" cy="1175474"/>
          </a:xfrm>
          <a:prstGeom prst="rect">
            <a:avLst/>
          </a:prstGeom>
        </p:spPr>
      </p:pic>
      <p:sp>
        <p:nvSpPr>
          <p:cNvPr id="6" name="Rectangle 5">
            <a:extLst>
              <a:ext uri="{FF2B5EF4-FFF2-40B4-BE49-F238E27FC236}">
                <a16:creationId xmlns:a16="http://schemas.microsoft.com/office/drawing/2014/main" id="{384E560A-E724-4310-BF68-4F468F5641E2}"/>
              </a:ext>
            </a:extLst>
          </p:cNvPr>
          <p:cNvSpPr/>
          <p:nvPr/>
        </p:nvSpPr>
        <p:spPr>
          <a:xfrm>
            <a:off x="4395988" y="4634752"/>
            <a:ext cx="5227093" cy="1200329"/>
          </a:xfrm>
          <a:prstGeom prst="rect">
            <a:avLst/>
          </a:prstGeom>
        </p:spPr>
        <p:txBody>
          <a:bodyPr wrap="square">
            <a:spAutoFit/>
          </a:bodyPr>
          <a:lstStyle/>
          <a:p>
            <a:r>
              <a:rPr lang="en-US" sz="3600" dirty="0">
                <a:latin typeface="Cambria" panose="02040503050406030204" pitchFamily="18" charset="0"/>
                <a:ea typeface="Cambria" panose="02040503050406030204" pitchFamily="18" charset="0"/>
              </a:rPr>
              <a:t>Fraud Prevention &amp; Internal Control</a:t>
            </a:r>
            <a:endParaRPr lang="en-US" sz="3600" dirty="0"/>
          </a:p>
        </p:txBody>
      </p:sp>
      <p:sp>
        <p:nvSpPr>
          <p:cNvPr id="18" name="Rectangle 17">
            <a:extLst>
              <a:ext uri="{FF2B5EF4-FFF2-40B4-BE49-F238E27FC236}">
                <a16:creationId xmlns:a16="http://schemas.microsoft.com/office/drawing/2014/main" id="{9144462A-C434-4026-888F-5A3088637AD8}"/>
              </a:ext>
            </a:extLst>
          </p:cNvPr>
          <p:cNvSpPr/>
          <p:nvPr/>
        </p:nvSpPr>
        <p:spPr>
          <a:xfrm>
            <a:off x="8364593" y="5528361"/>
            <a:ext cx="2459006" cy="369332"/>
          </a:xfrm>
          <a:prstGeom prst="rect">
            <a:avLst/>
          </a:prstGeom>
        </p:spPr>
        <p:txBody>
          <a:bodyPr wrap="square">
            <a:spAutoFit/>
          </a:bodyPr>
          <a:lstStyle/>
          <a:p>
            <a:r>
              <a:rPr lang="en-IN" dirty="0">
                <a:solidFill>
                  <a:srgbClr val="FFFFFF"/>
                </a:solidFill>
                <a:latin typeface="Cambria" panose="02040503050406030204" pitchFamily="18" charset="0"/>
                <a:ea typeface="Cambria" panose="02040503050406030204" pitchFamily="18" charset="0"/>
              </a:rPr>
              <a:t>Legal and Compliance</a:t>
            </a:r>
          </a:p>
        </p:txBody>
      </p:sp>
      <p:sp>
        <p:nvSpPr>
          <p:cNvPr id="19" name="Rectangle 18">
            <a:extLst>
              <a:ext uri="{FF2B5EF4-FFF2-40B4-BE49-F238E27FC236}">
                <a16:creationId xmlns:a16="http://schemas.microsoft.com/office/drawing/2014/main" id="{90A2529A-88B4-4D27-8571-0121D1888533}"/>
              </a:ext>
            </a:extLst>
          </p:cNvPr>
          <p:cNvSpPr/>
          <p:nvPr/>
        </p:nvSpPr>
        <p:spPr>
          <a:xfrm>
            <a:off x="812076" y="5964072"/>
            <a:ext cx="10583805" cy="400110"/>
          </a:xfrm>
          <a:prstGeom prst="rect">
            <a:avLst/>
          </a:prstGeom>
        </p:spPr>
        <p:txBody>
          <a:bodyPr wrap="square">
            <a:spAutoFit/>
          </a:bodyPr>
          <a:lstStyle/>
          <a:p>
            <a:pPr algn="just"/>
            <a:r>
              <a:rPr lang="en-IN" sz="1000" dirty="0">
                <a:solidFill>
                  <a:schemeClr val="accent3"/>
                </a:solidFill>
                <a:latin typeface="Cambria" panose="02040503050406030204" pitchFamily="18" charset="0"/>
                <a:ea typeface="Cambria" panose="02040503050406030204" pitchFamily="18" charset="0"/>
              </a:rPr>
              <a:t>For Internal Circulation only. </a:t>
            </a:r>
          </a:p>
          <a:p>
            <a:pPr algn="just"/>
            <a:r>
              <a:rPr lang="en-IN" sz="1000" dirty="0">
                <a:solidFill>
                  <a:schemeClr val="accent3"/>
                </a:solidFill>
                <a:latin typeface="Cambria" panose="02040503050406030204" pitchFamily="18" charset="0"/>
                <a:ea typeface="Cambria" panose="02040503050406030204" pitchFamily="18" charset="0"/>
              </a:rPr>
              <a:t>This document is strictly private, confidential and personal to the members of APAC and should not be copied, distributed or reproduced in whole or in part, nor passed to any third party</a:t>
            </a:r>
            <a:r>
              <a:rPr lang="en-IN" sz="1000" dirty="0">
                <a:latin typeface="Cambria" panose="02040503050406030204" pitchFamily="18" charset="0"/>
                <a:ea typeface="Cambria" panose="02040503050406030204" pitchFamily="18" charset="0"/>
              </a:rPr>
              <a:t>.</a:t>
            </a:r>
          </a:p>
        </p:txBody>
      </p:sp>
      <p:sp>
        <p:nvSpPr>
          <p:cNvPr id="2" name="Date Placeholder 1">
            <a:extLst>
              <a:ext uri="{FF2B5EF4-FFF2-40B4-BE49-F238E27FC236}">
                <a16:creationId xmlns:a16="http://schemas.microsoft.com/office/drawing/2014/main" id="{0C0358D0-F46E-449E-82AC-B48B6D824DCE}"/>
              </a:ext>
            </a:extLst>
          </p:cNvPr>
          <p:cNvSpPr>
            <a:spLocks noGrp="1"/>
          </p:cNvSpPr>
          <p:nvPr>
            <p:ph type="dt" sz="half" idx="10"/>
          </p:nvPr>
        </p:nvSpPr>
        <p:spPr/>
        <p:txBody>
          <a:bodyPr/>
          <a:lstStyle/>
          <a:p>
            <a:fld id="{950FFE23-DCD6-4FE1-A893-7A0AEE5632E1}" type="datetime1">
              <a:rPr lang="en-US" smtClean="0"/>
              <a:t>4/30/2020</a:t>
            </a:fld>
            <a:endParaRPr lang="en-US"/>
          </a:p>
        </p:txBody>
      </p:sp>
      <p:sp>
        <p:nvSpPr>
          <p:cNvPr id="3" name="Slide Number Placeholder 2">
            <a:extLst>
              <a:ext uri="{FF2B5EF4-FFF2-40B4-BE49-F238E27FC236}">
                <a16:creationId xmlns:a16="http://schemas.microsoft.com/office/drawing/2014/main" id="{5C0B3D60-26AA-4D81-B28B-9CF8D2D16A3B}"/>
              </a:ext>
            </a:extLst>
          </p:cNvPr>
          <p:cNvSpPr>
            <a:spLocks noGrp="1"/>
          </p:cNvSpPr>
          <p:nvPr>
            <p:ph type="sldNum" sz="quarter" idx="12"/>
          </p:nvPr>
        </p:nvSpPr>
        <p:spPr/>
        <p:txBody>
          <a:bodyPr/>
          <a:lstStyle/>
          <a:p>
            <a:fld id="{4AA01191-0D54-4503-942B-A80E3AB8E296}" type="slidenum">
              <a:rPr lang="en-US" smtClean="0"/>
              <a:t>1</a:t>
            </a:fld>
            <a:endParaRPr lang="en-US"/>
          </a:p>
        </p:txBody>
      </p:sp>
    </p:spTree>
    <p:extLst>
      <p:ext uri="{BB962C8B-B14F-4D97-AF65-F5344CB8AC3E}">
        <p14:creationId xmlns:p14="http://schemas.microsoft.com/office/powerpoint/2010/main" val="64425885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C0CB-D78A-4C98-BE9B-BF8355CDBA3A}"/>
              </a:ext>
            </a:extLst>
          </p:cNvPr>
          <p:cNvSpPr>
            <a:spLocks noGrp="1"/>
          </p:cNvSpPr>
          <p:nvPr>
            <p:ph type="title"/>
          </p:nvPr>
        </p:nvSpPr>
        <p:spPr/>
        <p:txBody>
          <a:bodyPr>
            <a:normAutofit/>
          </a:bodyPr>
          <a:lstStyle/>
          <a:p>
            <a:pPr algn="ctr"/>
            <a:r>
              <a:rPr lang="en-US" sz="3600" dirty="0">
                <a:latin typeface="Cambria" panose="02040503050406030204" pitchFamily="18" charset="0"/>
                <a:ea typeface="Cambria" panose="02040503050406030204" pitchFamily="18" charset="0"/>
              </a:rPr>
              <a:t>OBJECTIVE</a:t>
            </a:r>
          </a:p>
        </p:txBody>
      </p:sp>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p:txBody>
          <a:bodyPr>
            <a:normAutofit/>
          </a:bodyPr>
          <a:lstStyle/>
          <a:p>
            <a:pPr marL="0" indent="0" algn="just">
              <a:buNone/>
            </a:pPr>
            <a:r>
              <a:rPr lang="en-US" sz="2000" dirty="0">
                <a:latin typeface="Cambria" panose="02040503050406030204" pitchFamily="18" charset="0"/>
                <a:ea typeface="Cambria" panose="02040503050406030204" pitchFamily="18" charset="0"/>
              </a:rPr>
              <a:t>The main objective of this webinar is to spread awareness about scams and frauds that are prevalent in the financing industry and sharing insights with you to help you:</a:t>
            </a:r>
          </a:p>
          <a:p>
            <a:pPr marL="0" indent="0" algn="just">
              <a:spcBef>
                <a:spcPts val="0"/>
              </a:spcBef>
              <a:buNone/>
            </a:pPr>
            <a:endParaRPr lang="en-US" sz="2000" dirty="0">
              <a:latin typeface="Cambria" panose="02040503050406030204" pitchFamily="18" charset="0"/>
              <a:ea typeface="Cambria" panose="02040503050406030204" pitchFamily="18" charset="0"/>
            </a:endParaRPr>
          </a:p>
          <a:p>
            <a:pPr marL="463550" indent="-463550" algn="just">
              <a:spcBef>
                <a:spcPts val="0"/>
              </a:spcBef>
              <a:buFont typeface="Wingdings" panose="05000000000000000000" pitchFamily="2" charset="2"/>
              <a:buChar char="v"/>
            </a:pPr>
            <a:r>
              <a:rPr lang="en-US" sz="2000" dirty="0">
                <a:latin typeface="Cambria" panose="02040503050406030204" pitchFamily="18" charset="0"/>
                <a:ea typeface="Cambria" panose="02040503050406030204" pitchFamily="18" charset="0"/>
              </a:rPr>
              <a:t>identify the fraud;</a:t>
            </a:r>
          </a:p>
          <a:p>
            <a:pPr marL="463550" indent="-463550" algn="just">
              <a:buFont typeface="Wingdings" panose="05000000000000000000" pitchFamily="2" charset="2"/>
              <a:buChar char="v"/>
            </a:pPr>
            <a:r>
              <a:rPr lang="en-US" sz="2000" dirty="0">
                <a:latin typeface="Cambria" panose="02040503050406030204" pitchFamily="18" charset="0"/>
                <a:ea typeface="Cambria" panose="02040503050406030204" pitchFamily="18" charset="0"/>
              </a:rPr>
              <a:t>prevent the fraud from happening;</a:t>
            </a:r>
          </a:p>
          <a:p>
            <a:pPr marL="463550" indent="-463550" algn="just">
              <a:buFont typeface="Wingdings" panose="05000000000000000000" pitchFamily="2" charset="2"/>
              <a:buChar char="v"/>
            </a:pPr>
            <a:r>
              <a:rPr lang="en-US" sz="2000" dirty="0">
                <a:latin typeface="Cambria" panose="02040503050406030204" pitchFamily="18" charset="0"/>
                <a:ea typeface="Cambria" panose="02040503050406030204" pitchFamily="18" charset="0"/>
              </a:rPr>
              <a:t>report any fraud that is detected or suspected; and</a:t>
            </a:r>
          </a:p>
          <a:p>
            <a:pPr marL="463550" indent="-463550" algn="just">
              <a:buFont typeface="Wingdings" panose="05000000000000000000" pitchFamily="2" charset="2"/>
              <a:buChar char="v"/>
            </a:pPr>
            <a:r>
              <a:rPr lang="en-US" sz="2000" dirty="0">
                <a:latin typeface="Cambria" panose="02040503050406030204" pitchFamily="18" charset="0"/>
                <a:ea typeface="Cambria" panose="02040503050406030204" pitchFamily="18" charset="0"/>
              </a:rPr>
              <a:t>mitigate the risks and losses associated with fraud.</a:t>
            </a:r>
          </a:p>
          <a:p>
            <a:pPr marL="0" indent="0" algn="just">
              <a:spcBef>
                <a:spcPts val="0"/>
              </a:spcBef>
              <a:buNone/>
            </a:pPr>
            <a:endParaRPr lang="en-US" sz="2000" dirty="0">
              <a:latin typeface="Cambria" panose="02040503050406030204" pitchFamily="18" charset="0"/>
              <a:ea typeface="Cambria" panose="02040503050406030204" pitchFamily="18" charset="0"/>
            </a:endParaRPr>
          </a:p>
          <a:p>
            <a:pPr marL="0" indent="0" algn="just">
              <a:spcBef>
                <a:spcPts val="0"/>
              </a:spcBef>
              <a:buNone/>
            </a:pPr>
            <a:r>
              <a:rPr lang="en-US" sz="1800" dirty="0">
                <a:latin typeface="Cambria" panose="02040503050406030204" pitchFamily="18" charset="0"/>
                <a:ea typeface="Cambria" panose="02040503050406030204" pitchFamily="18" charset="0"/>
              </a:rPr>
              <a:t>Since, observation and reporting by frontline sales and credit people is the most common way to detect fraud. We are committed to equip our colleagues with general awareness of fraud and appropriate response to be adopted if such activity is detected or suspected. </a:t>
            </a:r>
            <a:endParaRPr lang="en-US"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Date Placeholder 4">
            <a:extLst>
              <a:ext uri="{FF2B5EF4-FFF2-40B4-BE49-F238E27FC236}">
                <a16:creationId xmlns:a16="http://schemas.microsoft.com/office/drawing/2014/main" id="{4BF0DCD8-EBF4-46A9-B93A-589C7C6202AD}"/>
              </a:ext>
            </a:extLst>
          </p:cNvPr>
          <p:cNvSpPr>
            <a:spLocks noGrp="1"/>
          </p:cNvSpPr>
          <p:nvPr>
            <p:ph type="dt" sz="half" idx="10"/>
          </p:nvPr>
        </p:nvSpPr>
        <p:spPr/>
        <p:txBody>
          <a:bodyPr/>
          <a:lstStyle/>
          <a:p>
            <a:fld id="{14E87018-739F-4839-A3B7-799D1F97AA50}" type="datetime1">
              <a:rPr lang="en-US" smtClean="0"/>
              <a:t>4/30/2020</a:t>
            </a:fld>
            <a:endParaRPr lang="en-US"/>
          </a:p>
        </p:txBody>
      </p:sp>
      <p:sp>
        <p:nvSpPr>
          <p:cNvPr id="7" name="Slide Number Placeholder 6">
            <a:extLst>
              <a:ext uri="{FF2B5EF4-FFF2-40B4-BE49-F238E27FC236}">
                <a16:creationId xmlns:a16="http://schemas.microsoft.com/office/drawing/2014/main" id="{956E6026-084D-45EF-8BC4-CB765589F76B}"/>
              </a:ext>
            </a:extLst>
          </p:cNvPr>
          <p:cNvSpPr>
            <a:spLocks noGrp="1"/>
          </p:cNvSpPr>
          <p:nvPr>
            <p:ph type="sldNum" sz="quarter" idx="12"/>
          </p:nvPr>
        </p:nvSpPr>
        <p:spPr/>
        <p:txBody>
          <a:bodyPr/>
          <a:lstStyle/>
          <a:p>
            <a:fld id="{4AA01191-0D54-4503-942B-A80E3AB8E296}" type="slidenum">
              <a:rPr lang="en-US" smtClean="0"/>
              <a:t>2</a:t>
            </a:fld>
            <a:endParaRPr lang="en-US"/>
          </a:p>
        </p:txBody>
      </p:sp>
    </p:spTree>
    <p:extLst>
      <p:ext uri="{BB962C8B-B14F-4D97-AF65-F5344CB8AC3E}">
        <p14:creationId xmlns:p14="http://schemas.microsoft.com/office/powerpoint/2010/main" val="2464273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8606B-3457-4606-ADD4-873BE99BFA25}"/>
              </a:ext>
            </a:extLst>
          </p:cNvPr>
          <p:cNvSpPr>
            <a:spLocks noGrp="1"/>
          </p:cNvSpPr>
          <p:nvPr>
            <p:ph type="title"/>
          </p:nvPr>
        </p:nvSpPr>
        <p:spPr/>
        <p:txBody>
          <a:bodyPr>
            <a:normAutofit/>
          </a:bodyPr>
          <a:lstStyle/>
          <a:p>
            <a:pPr algn="ctr"/>
            <a:r>
              <a:rPr lang="en-US" sz="2800" dirty="0">
                <a:latin typeface="Cambria" panose="02040503050406030204" pitchFamily="18" charset="0"/>
                <a:ea typeface="Cambria" panose="02040503050406030204" pitchFamily="18" charset="0"/>
              </a:rPr>
              <a:t>Categories of Fraud</a:t>
            </a:r>
          </a:p>
        </p:txBody>
      </p:sp>
      <p:sp>
        <p:nvSpPr>
          <p:cNvPr id="3" name="Content Placeholder 2">
            <a:extLst>
              <a:ext uri="{FF2B5EF4-FFF2-40B4-BE49-F238E27FC236}">
                <a16:creationId xmlns:a16="http://schemas.microsoft.com/office/drawing/2014/main" id="{8D8AB3C7-1E64-43CF-B1D1-D0E993C0C04A}"/>
              </a:ext>
            </a:extLst>
          </p:cNvPr>
          <p:cNvSpPr>
            <a:spLocks noGrp="1"/>
          </p:cNvSpPr>
          <p:nvPr>
            <p:ph idx="1"/>
          </p:nvPr>
        </p:nvSpPr>
        <p:spPr/>
        <p:txBody>
          <a:bodyPr/>
          <a:lstStyle/>
          <a:p>
            <a:pPr marL="287338" indent="0" algn="just">
              <a:buNone/>
            </a:pPr>
            <a:r>
              <a:rPr lang="en-US" sz="2200" u="sng" dirty="0">
                <a:latin typeface="Cambria" panose="02040503050406030204" pitchFamily="18" charset="0"/>
                <a:ea typeface="Cambria" panose="02040503050406030204" pitchFamily="18" charset="0"/>
              </a:rPr>
              <a:t>On the basis of place of origin and parties involved, we have categorized fraud in two separate categories:</a:t>
            </a:r>
          </a:p>
          <a:p>
            <a:pPr marL="744538" indent="-457200" algn="just">
              <a:buFont typeface="Wingdings" panose="05000000000000000000" pitchFamily="2" charset="2"/>
              <a:buChar char="v"/>
            </a:pPr>
            <a:endParaRPr lang="en-US" sz="2200" u="sng" dirty="0">
              <a:latin typeface="Cambria" panose="02040503050406030204" pitchFamily="18" charset="0"/>
              <a:ea typeface="Cambria" panose="02040503050406030204" pitchFamily="18" charset="0"/>
            </a:endParaRPr>
          </a:p>
          <a:p>
            <a:pPr marL="744538" indent="-457200" algn="just">
              <a:buFont typeface="Wingdings" panose="05000000000000000000" pitchFamily="2" charset="2"/>
              <a:buChar char="v"/>
            </a:pPr>
            <a:r>
              <a:rPr lang="en-US" sz="2200" u="sng" dirty="0">
                <a:latin typeface="Cambria" panose="02040503050406030204" pitchFamily="18" charset="0"/>
                <a:ea typeface="Cambria" panose="02040503050406030204" pitchFamily="18" charset="0"/>
              </a:rPr>
              <a:t>External Fraud</a:t>
            </a:r>
          </a:p>
          <a:p>
            <a:pPr marL="746125" indent="0" algn="just">
              <a:buNone/>
            </a:pPr>
            <a:r>
              <a:rPr lang="en-US" sz="1800" dirty="0">
                <a:latin typeface="Cambria" panose="02040503050406030204" pitchFamily="18" charset="0"/>
                <a:ea typeface="Cambria" panose="02040503050406030204" pitchFamily="18" charset="0"/>
              </a:rPr>
              <a:t>Where the parties involved in the fraud or scam are from outside the organisation.</a:t>
            </a:r>
          </a:p>
          <a:p>
            <a:pPr marL="744538" indent="-457200" algn="just">
              <a:buFont typeface="Wingdings" panose="05000000000000000000" pitchFamily="2" charset="2"/>
              <a:buChar char="v"/>
            </a:pPr>
            <a:r>
              <a:rPr lang="en-US" sz="2200" u="sng" dirty="0">
                <a:latin typeface="Cambria" panose="02040503050406030204" pitchFamily="18" charset="0"/>
                <a:ea typeface="Cambria" panose="02040503050406030204" pitchFamily="18" charset="0"/>
              </a:rPr>
              <a:t>Internal Fraud</a:t>
            </a:r>
          </a:p>
          <a:p>
            <a:pPr marL="746125" indent="0" algn="just">
              <a:buNone/>
            </a:pPr>
            <a:r>
              <a:rPr lang="en-US" sz="1800" dirty="0">
                <a:latin typeface="Cambria" panose="02040503050406030204" pitchFamily="18" charset="0"/>
                <a:ea typeface="Cambria" panose="02040503050406030204" pitchFamily="18" charset="0"/>
              </a:rPr>
              <a:t>Where the parties involved in the fraud or scam are from inside the organisation and may or may not have colluded with several external parties.</a:t>
            </a:r>
          </a:p>
          <a:p>
            <a:pPr marL="287338" indent="0" algn="just">
              <a:buNone/>
            </a:pPr>
            <a:endParaRPr lang="en-US" dirty="0">
              <a:latin typeface="Cambria" panose="02040503050406030204" pitchFamily="18" charset="0"/>
              <a:ea typeface="Cambria" panose="02040503050406030204" pitchFamily="18" charset="0"/>
            </a:endParaRPr>
          </a:p>
          <a:p>
            <a:endParaRPr lang="en-US" dirty="0"/>
          </a:p>
        </p:txBody>
      </p:sp>
      <p:sp>
        <p:nvSpPr>
          <p:cNvPr id="4" name="Date Placeholder 3">
            <a:extLst>
              <a:ext uri="{FF2B5EF4-FFF2-40B4-BE49-F238E27FC236}">
                <a16:creationId xmlns:a16="http://schemas.microsoft.com/office/drawing/2014/main" id="{2ADE6963-E916-44A9-B579-00CF85ACE1DF}"/>
              </a:ext>
            </a:extLst>
          </p:cNvPr>
          <p:cNvSpPr>
            <a:spLocks noGrp="1"/>
          </p:cNvSpPr>
          <p:nvPr>
            <p:ph type="dt" sz="half" idx="10"/>
          </p:nvPr>
        </p:nvSpPr>
        <p:spPr/>
        <p:txBody>
          <a:bodyPr/>
          <a:lstStyle/>
          <a:p>
            <a:fld id="{3F82EF15-C556-4321-9F2D-C2BEFC7C519B}" type="datetime1">
              <a:rPr lang="en-US" smtClean="0"/>
              <a:t>4/30/2020</a:t>
            </a:fld>
            <a:endParaRPr lang="en-US"/>
          </a:p>
        </p:txBody>
      </p:sp>
      <p:sp>
        <p:nvSpPr>
          <p:cNvPr id="5" name="Slide Number Placeholder 4">
            <a:extLst>
              <a:ext uri="{FF2B5EF4-FFF2-40B4-BE49-F238E27FC236}">
                <a16:creationId xmlns:a16="http://schemas.microsoft.com/office/drawing/2014/main" id="{1C79111D-4FC4-4F5B-B77A-6C75582A2550}"/>
              </a:ext>
            </a:extLst>
          </p:cNvPr>
          <p:cNvSpPr>
            <a:spLocks noGrp="1"/>
          </p:cNvSpPr>
          <p:nvPr>
            <p:ph type="sldNum" sz="quarter" idx="12"/>
          </p:nvPr>
        </p:nvSpPr>
        <p:spPr/>
        <p:txBody>
          <a:bodyPr/>
          <a:lstStyle/>
          <a:p>
            <a:fld id="{4AA01191-0D54-4503-942B-A80E3AB8E296}" type="slidenum">
              <a:rPr lang="en-US" smtClean="0"/>
              <a:t>3</a:t>
            </a:fld>
            <a:endParaRPr lang="en-US"/>
          </a:p>
        </p:txBody>
      </p:sp>
    </p:spTree>
    <p:extLst>
      <p:ext uri="{BB962C8B-B14F-4D97-AF65-F5344CB8AC3E}">
        <p14:creationId xmlns:p14="http://schemas.microsoft.com/office/powerpoint/2010/main" val="1949497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C0CB-D78A-4C98-BE9B-BF8355CDBA3A}"/>
              </a:ext>
            </a:extLst>
          </p:cNvPr>
          <p:cNvSpPr>
            <a:spLocks noGrp="1"/>
          </p:cNvSpPr>
          <p:nvPr>
            <p:ph type="title"/>
          </p:nvPr>
        </p:nvSpPr>
        <p:spPr/>
        <p:txBody>
          <a:bodyPr>
            <a:normAutofit/>
          </a:bodyPr>
          <a:lstStyle/>
          <a:p>
            <a:pPr marL="287338" algn="ctr"/>
            <a:r>
              <a:rPr lang="en-US" sz="2800" u="sng" dirty="0">
                <a:latin typeface="Cambria" panose="02040503050406030204" pitchFamily="18" charset="0"/>
                <a:ea typeface="Cambria" panose="02040503050406030204" pitchFamily="18" charset="0"/>
              </a:rPr>
              <a:t>External Fraud</a:t>
            </a:r>
          </a:p>
        </p:txBody>
      </p:sp>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p:txBody>
          <a:bodyPr>
            <a:normAutofit/>
          </a:bodyPr>
          <a:lstStyle/>
          <a:p>
            <a:pPr marL="287338" indent="0" algn="just">
              <a:buNone/>
            </a:pPr>
            <a:r>
              <a:rPr lang="en-US" sz="2400" dirty="0">
                <a:latin typeface="Cambria" panose="02040503050406030204" pitchFamily="18" charset="0"/>
                <a:ea typeface="Cambria" panose="02040503050406030204" pitchFamily="18" charset="0"/>
              </a:rPr>
              <a:t>Some types of external frauds are:</a:t>
            </a:r>
          </a:p>
          <a:p>
            <a:pPr marL="287338" indent="0" algn="just">
              <a:buNone/>
            </a:pPr>
            <a:endParaRPr lang="en-US" sz="2400" dirty="0">
              <a:latin typeface="Cambria" panose="02040503050406030204" pitchFamily="18" charset="0"/>
              <a:ea typeface="Cambria" panose="02040503050406030204" pitchFamily="18" charset="0"/>
            </a:endParaRPr>
          </a:p>
          <a:p>
            <a:pPr marL="463550"/>
            <a:r>
              <a:rPr lang="en-US" sz="2000" dirty="0">
                <a:latin typeface="Cambria" panose="02040503050406030204" pitchFamily="18" charset="0"/>
                <a:ea typeface="Cambria" panose="02040503050406030204" pitchFamily="18" charset="0"/>
              </a:rPr>
              <a:t>Title fraud/Title documents fraud.</a:t>
            </a:r>
          </a:p>
          <a:p>
            <a:pPr marL="463550"/>
            <a:r>
              <a:rPr lang="en-US" sz="2000" dirty="0">
                <a:latin typeface="Cambria" panose="02040503050406030204" pitchFamily="18" charset="0"/>
                <a:ea typeface="Cambria" panose="02040503050406030204" pitchFamily="18" charset="0"/>
              </a:rPr>
              <a:t>Collusion between vendors/DSAs/Channel partners and customers</a:t>
            </a:r>
          </a:p>
          <a:p>
            <a:pPr marL="463550"/>
            <a:r>
              <a:rPr lang="en-US" sz="2000" dirty="0">
                <a:latin typeface="Cambria" panose="02040503050406030204" pitchFamily="18" charset="0"/>
                <a:ea typeface="Cambria" panose="02040503050406030204" pitchFamily="18" charset="0"/>
              </a:rPr>
              <a:t>Critical document fraud</a:t>
            </a:r>
          </a:p>
          <a:p>
            <a:pPr marL="463550"/>
            <a:r>
              <a:rPr lang="en-US" sz="2000" dirty="0">
                <a:latin typeface="Cambria" panose="02040503050406030204" pitchFamily="18" charset="0"/>
                <a:ea typeface="Cambria" panose="02040503050406030204" pitchFamily="18" charset="0"/>
              </a:rPr>
              <a:t>Own Contribution Money (OCR)</a:t>
            </a: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Date Placeholder 4">
            <a:extLst>
              <a:ext uri="{FF2B5EF4-FFF2-40B4-BE49-F238E27FC236}">
                <a16:creationId xmlns:a16="http://schemas.microsoft.com/office/drawing/2014/main" id="{EE3C9F6B-E185-4822-8EC6-1C960792ED44}"/>
              </a:ext>
            </a:extLst>
          </p:cNvPr>
          <p:cNvSpPr>
            <a:spLocks noGrp="1"/>
          </p:cNvSpPr>
          <p:nvPr>
            <p:ph type="dt" sz="half" idx="10"/>
          </p:nvPr>
        </p:nvSpPr>
        <p:spPr/>
        <p:txBody>
          <a:bodyPr/>
          <a:lstStyle/>
          <a:p>
            <a:fld id="{B2FBB4D5-BAFB-408E-BA87-0DCA44934E54}" type="datetime1">
              <a:rPr lang="en-US" smtClean="0"/>
              <a:t>4/30/2020</a:t>
            </a:fld>
            <a:endParaRPr lang="en-US"/>
          </a:p>
        </p:txBody>
      </p:sp>
      <p:sp>
        <p:nvSpPr>
          <p:cNvPr id="7" name="Slide Number Placeholder 6">
            <a:extLst>
              <a:ext uri="{FF2B5EF4-FFF2-40B4-BE49-F238E27FC236}">
                <a16:creationId xmlns:a16="http://schemas.microsoft.com/office/drawing/2014/main" id="{B95E0B00-1EB3-4BAA-96D5-1902E99385F6}"/>
              </a:ext>
            </a:extLst>
          </p:cNvPr>
          <p:cNvSpPr>
            <a:spLocks noGrp="1"/>
          </p:cNvSpPr>
          <p:nvPr>
            <p:ph type="sldNum" sz="quarter" idx="12"/>
          </p:nvPr>
        </p:nvSpPr>
        <p:spPr/>
        <p:txBody>
          <a:bodyPr/>
          <a:lstStyle/>
          <a:p>
            <a:fld id="{4AA01191-0D54-4503-942B-A80E3AB8E296}" type="slidenum">
              <a:rPr lang="en-US" smtClean="0"/>
              <a:t>4</a:t>
            </a:fld>
            <a:endParaRPr lang="en-US"/>
          </a:p>
        </p:txBody>
      </p:sp>
    </p:spTree>
    <p:extLst>
      <p:ext uri="{BB962C8B-B14F-4D97-AF65-F5344CB8AC3E}">
        <p14:creationId xmlns:p14="http://schemas.microsoft.com/office/powerpoint/2010/main" val="1427219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C0CB-D78A-4C98-BE9B-BF8355CDBA3A}"/>
              </a:ext>
            </a:extLst>
          </p:cNvPr>
          <p:cNvSpPr>
            <a:spLocks noGrp="1"/>
          </p:cNvSpPr>
          <p:nvPr>
            <p:ph type="title"/>
          </p:nvPr>
        </p:nvSpPr>
        <p:spPr/>
        <p:txBody>
          <a:bodyPr>
            <a:normAutofit/>
          </a:bodyPr>
          <a:lstStyle/>
          <a:p>
            <a:pPr algn="ctr"/>
            <a:r>
              <a:rPr lang="en-US" sz="2800" dirty="0">
                <a:latin typeface="Cambria" panose="02040503050406030204" pitchFamily="18" charset="0"/>
                <a:ea typeface="Cambria" panose="02040503050406030204" pitchFamily="18" charset="0"/>
              </a:rPr>
              <a:t>Title Fraud</a:t>
            </a:r>
          </a:p>
        </p:txBody>
      </p:sp>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a:xfrm>
            <a:off x="883171" y="1840615"/>
            <a:ext cx="10515600" cy="4351338"/>
          </a:xfrm>
        </p:spPr>
        <p:txBody>
          <a:bodyPr>
            <a:normAutofit lnSpcReduction="10000"/>
          </a:bodyPr>
          <a:lstStyle/>
          <a:p>
            <a:pPr algn="just">
              <a:buFont typeface="Wingdings" panose="05000000000000000000" pitchFamily="2" charset="2"/>
              <a:buChar char="Ø"/>
            </a:pPr>
            <a:r>
              <a:rPr lang="en-US" sz="2100" dirty="0">
                <a:latin typeface="Cambria" panose="02040503050406030204" pitchFamily="18" charset="0"/>
                <a:ea typeface="Cambria" panose="02040503050406030204" pitchFamily="18" charset="0"/>
              </a:rPr>
              <a:t> </a:t>
            </a:r>
            <a:r>
              <a:rPr lang="en-US" sz="1700" dirty="0">
                <a:latin typeface="Cambria" panose="02040503050406030204" pitchFamily="18" charset="0"/>
                <a:ea typeface="Cambria" panose="02040503050406030204" pitchFamily="18" charset="0"/>
              </a:rPr>
              <a:t>Title fraud can be done in various ways such as </a:t>
            </a:r>
          </a:p>
          <a:p>
            <a:pPr marL="1147763" indent="-571500" algn="just">
              <a:buFont typeface="Courier New" panose="02070309020205020404" pitchFamily="49" charset="0"/>
              <a:buChar char="o"/>
            </a:pPr>
            <a:r>
              <a:rPr lang="en-US" sz="1700" dirty="0">
                <a:latin typeface="Cambria" panose="02040503050406030204" pitchFamily="18" charset="0"/>
                <a:ea typeface="Cambria" panose="02040503050406030204" pitchFamily="18" charset="0"/>
              </a:rPr>
              <a:t>Forging the title documents by interfering with contents of the documents such as name of the owner, details of the property etc.</a:t>
            </a:r>
          </a:p>
          <a:p>
            <a:pPr marL="1147763" indent="-571500" algn="just">
              <a:buFont typeface="Courier New" panose="02070309020205020404" pitchFamily="49" charset="0"/>
              <a:buChar char="o"/>
            </a:pPr>
            <a:r>
              <a:rPr lang="en-US" sz="1700" dirty="0">
                <a:latin typeface="Cambria" panose="02040503050406030204" pitchFamily="18" charset="0"/>
                <a:ea typeface="Cambria" panose="02040503050406030204" pitchFamily="18" charset="0"/>
              </a:rPr>
              <a:t>Duplicating the title documents usually by creating more than one copies.</a:t>
            </a:r>
          </a:p>
          <a:p>
            <a:pPr marL="576263" algn="just">
              <a:spcBef>
                <a:spcPts val="0"/>
              </a:spcBef>
            </a:pPr>
            <a:endParaRPr lang="en-US" sz="2100" dirty="0">
              <a:latin typeface="Cambria" panose="02040503050406030204" pitchFamily="18" charset="0"/>
              <a:ea typeface="Cambria" panose="02040503050406030204" pitchFamily="18" charset="0"/>
            </a:endParaRPr>
          </a:p>
          <a:p>
            <a:pPr algn="just">
              <a:spcBef>
                <a:spcPts val="0"/>
              </a:spcBef>
              <a:buFont typeface="Wingdings" panose="05000000000000000000" pitchFamily="2" charset="2"/>
              <a:buChar char="Ø"/>
            </a:pPr>
            <a:r>
              <a:rPr lang="en-US" sz="1900" u="sng" dirty="0">
                <a:latin typeface="Cambria" panose="02040503050406030204" pitchFamily="18" charset="0"/>
                <a:ea typeface="Cambria" panose="02040503050406030204" pitchFamily="18" charset="0"/>
              </a:rPr>
              <a:t>Examples:</a:t>
            </a:r>
          </a:p>
          <a:p>
            <a:pPr marL="512763" algn="just"/>
            <a:r>
              <a:rPr lang="en-US" sz="1700" dirty="0">
                <a:latin typeface="Cambria" panose="02040503050406030204" pitchFamily="18" charset="0"/>
                <a:ea typeface="Cambria" panose="02040503050406030204" pitchFamily="18" charset="0"/>
              </a:rPr>
              <a:t>Stamped documents were forged by borrower.</a:t>
            </a:r>
          </a:p>
          <a:p>
            <a:pPr marL="512763" algn="just"/>
            <a:r>
              <a:rPr lang="en-US" sz="1700" dirty="0">
                <a:latin typeface="Cambria" panose="02040503050406030204" pitchFamily="18" charset="0"/>
                <a:ea typeface="Cambria" panose="02040503050406030204" pitchFamily="18" charset="0"/>
              </a:rPr>
              <a:t>Creating multiple fake documents of the same property and depositing with multiple institutions.</a:t>
            </a:r>
          </a:p>
          <a:p>
            <a:pPr marL="512763" algn="just"/>
            <a:r>
              <a:rPr lang="en-US" sz="1700" dirty="0">
                <a:latin typeface="Cambria" panose="02040503050406030204" pitchFamily="18" charset="0"/>
                <a:ea typeface="Cambria" panose="02040503050406030204" pitchFamily="18" charset="0"/>
              </a:rPr>
              <a:t>Property was sold through duplicate/fake title deeds even though original title documents was with the financing company.</a:t>
            </a:r>
          </a:p>
          <a:p>
            <a:pPr marL="512763" algn="just"/>
            <a:r>
              <a:rPr lang="en-US" sz="1700" dirty="0">
                <a:latin typeface="Cambria" panose="02040503050406030204" pitchFamily="18" charset="0"/>
                <a:ea typeface="Cambria" panose="02040503050406030204" pitchFamily="18" charset="0"/>
              </a:rPr>
              <a:t>The borrower in collusion with the vendor fabricated the sale deed by mentioning the property address, colony name and photograph of a different property and availed a mortgage loan against this property.</a:t>
            </a:r>
          </a:p>
          <a:p>
            <a:pPr marL="512763" algn="just"/>
            <a:r>
              <a:rPr lang="en-US" sz="1700" dirty="0">
                <a:latin typeface="Cambria" panose="02040503050406030204" pitchFamily="18" charset="0"/>
                <a:ea typeface="Cambria" panose="02040503050406030204" pitchFamily="18" charset="0"/>
              </a:rPr>
              <a:t>Release deed submitted to Financing Company were fraudulent and were not registered with concerned sub-registrar. </a:t>
            </a:r>
          </a:p>
          <a:p>
            <a:pPr marL="284163" indent="0" algn="just">
              <a:buNone/>
            </a:pPr>
            <a:endParaRPr lang="en-US" sz="2300" dirty="0">
              <a:latin typeface="Cambria" panose="02040503050406030204" pitchFamily="18" charset="0"/>
              <a:ea typeface="Cambria" panose="02040503050406030204" pitchFamily="18" charset="0"/>
            </a:endParaRPr>
          </a:p>
          <a:p>
            <a:pPr marL="347663" indent="0" algn="just">
              <a:buNone/>
            </a:pPr>
            <a:endParaRPr lang="en-US" sz="24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3">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Date Placeholder 4">
            <a:extLst>
              <a:ext uri="{FF2B5EF4-FFF2-40B4-BE49-F238E27FC236}">
                <a16:creationId xmlns:a16="http://schemas.microsoft.com/office/drawing/2014/main" id="{36AD16AA-0645-4852-9F78-B3D5133C4B61}"/>
              </a:ext>
            </a:extLst>
          </p:cNvPr>
          <p:cNvSpPr>
            <a:spLocks noGrp="1"/>
          </p:cNvSpPr>
          <p:nvPr>
            <p:ph type="dt" sz="half" idx="10"/>
          </p:nvPr>
        </p:nvSpPr>
        <p:spPr/>
        <p:txBody>
          <a:bodyPr/>
          <a:lstStyle/>
          <a:p>
            <a:fld id="{F3C4DC42-B7FE-4909-BC76-41E71431201A}" type="datetime1">
              <a:rPr lang="en-US" smtClean="0"/>
              <a:t>4/30/2020</a:t>
            </a:fld>
            <a:endParaRPr lang="en-US"/>
          </a:p>
        </p:txBody>
      </p:sp>
      <p:sp>
        <p:nvSpPr>
          <p:cNvPr id="7" name="Slide Number Placeholder 6">
            <a:extLst>
              <a:ext uri="{FF2B5EF4-FFF2-40B4-BE49-F238E27FC236}">
                <a16:creationId xmlns:a16="http://schemas.microsoft.com/office/drawing/2014/main" id="{924BC6E5-D06A-466C-8FFA-522502029B57}"/>
              </a:ext>
            </a:extLst>
          </p:cNvPr>
          <p:cNvSpPr>
            <a:spLocks noGrp="1"/>
          </p:cNvSpPr>
          <p:nvPr>
            <p:ph type="sldNum" sz="quarter" idx="12"/>
          </p:nvPr>
        </p:nvSpPr>
        <p:spPr/>
        <p:txBody>
          <a:bodyPr/>
          <a:lstStyle/>
          <a:p>
            <a:fld id="{4AA01191-0D54-4503-942B-A80E3AB8E296}" type="slidenum">
              <a:rPr lang="en-US" smtClean="0"/>
              <a:t>5</a:t>
            </a:fld>
            <a:endParaRPr lang="en-US"/>
          </a:p>
        </p:txBody>
      </p:sp>
    </p:spTree>
    <p:extLst>
      <p:ext uri="{BB962C8B-B14F-4D97-AF65-F5344CB8AC3E}">
        <p14:creationId xmlns:p14="http://schemas.microsoft.com/office/powerpoint/2010/main" val="3603257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38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a:xfrm>
            <a:off x="838200" y="1195753"/>
            <a:ext cx="10515600" cy="4981209"/>
          </a:xfrm>
        </p:spPr>
        <p:txBody>
          <a:bodyPr>
            <a:normAutofit/>
          </a:bodyPr>
          <a:lstStyle/>
          <a:p>
            <a:pPr algn="just">
              <a:buFont typeface="Wingdings" panose="05000000000000000000" pitchFamily="2" charset="2"/>
              <a:buChar char="Ø"/>
            </a:pPr>
            <a:r>
              <a:rPr lang="en-US" sz="1900" u="sng" dirty="0">
                <a:latin typeface="Cambria" panose="02040503050406030204" pitchFamily="18" charset="0"/>
                <a:ea typeface="Cambria" panose="02040503050406030204" pitchFamily="18" charset="0"/>
              </a:rPr>
              <a:t>Mitigants/check-points</a:t>
            </a:r>
          </a:p>
          <a:p>
            <a:pPr marL="512763" algn="just"/>
            <a:r>
              <a:rPr lang="en-US" sz="1700" dirty="0">
                <a:latin typeface="Cambria" panose="02040503050406030204" pitchFamily="18" charset="0"/>
                <a:ea typeface="Cambria" panose="02040503050406030204" pitchFamily="18" charset="0"/>
              </a:rPr>
              <a:t>Title investigation report from a good lawyer is necessary.</a:t>
            </a:r>
          </a:p>
          <a:p>
            <a:pPr marL="512763" algn="just"/>
            <a:r>
              <a:rPr lang="en-US" sz="1700" dirty="0">
                <a:latin typeface="Cambria" panose="02040503050406030204" pitchFamily="18" charset="0"/>
                <a:ea typeface="Cambria" panose="02040503050406030204" pitchFamily="18" charset="0"/>
              </a:rPr>
              <a:t>Always check the authenticity of the title documents. Stamp paper, signatures etc. to be checked if they are genuine or not.  </a:t>
            </a:r>
          </a:p>
          <a:p>
            <a:pPr marL="512763" algn="just"/>
            <a:r>
              <a:rPr lang="en-US" sz="1700" dirty="0">
                <a:latin typeface="Cambria" panose="02040503050406030204" pitchFamily="18" charset="0"/>
                <a:ea typeface="Cambria" panose="02040503050406030204" pitchFamily="18" charset="0"/>
              </a:rPr>
              <a:t>To check authenticity of a document, try basic checks like checking stamp paper, checking signatures, checking registrar stamps. </a:t>
            </a:r>
          </a:p>
          <a:p>
            <a:pPr marL="512763" algn="just"/>
            <a:r>
              <a:rPr lang="en-US" sz="1700" dirty="0">
                <a:latin typeface="Cambria" panose="02040503050406030204" pitchFamily="18" charset="0"/>
                <a:ea typeface="Cambria" panose="02040503050406030204" pitchFamily="18" charset="0"/>
              </a:rPr>
              <a:t>Always get a vetting certificate by empaneled lawyer after mortgage but before disbursement, that the mortgage is valid as per law.</a:t>
            </a:r>
          </a:p>
          <a:p>
            <a:pPr marL="512763" algn="just"/>
            <a:r>
              <a:rPr lang="en-US" sz="1700" dirty="0">
                <a:latin typeface="Cambria" panose="02040503050406030204" pitchFamily="18" charset="0"/>
                <a:ea typeface="Cambria" panose="02040503050406030204" pitchFamily="18" charset="0"/>
              </a:rPr>
              <a:t>In case of doubt, get the certified copy of relevant document from the sub-registrar, if it is a registered document.</a:t>
            </a:r>
          </a:p>
          <a:p>
            <a:pPr marL="512763" algn="just"/>
            <a:r>
              <a:rPr lang="en-US" sz="1700" dirty="0">
                <a:latin typeface="Cambria" panose="02040503050406030204" pitchFamily="18" charset="0"/>
                <a:ea typeface="Cambria" panose="02040503050406030204" pitchFamily="18" charset="0"/>
              </a:rPr>
              <a:t>It is always advisable to get the relevant document verified by the issuing authority such as approvals/sanction plan etc.</a:t>
            </a:r>
          </a:p>
          <a:p>
            <a:pPr marL="512763" algn="just"/>
            <a:r>
              <a:rPr lang="en-US" sz="1700" dirty="0">
                <a:latin typeface="Cambria" panose="02040503050406030204" pitchFamily="18" charset="0"/>
                <a:ea typeface="Cambria" panose="02040503050406030204" pitchFamily="18" charset="0"/>
              </a:rPr>
              <a:t>Proof of possession and ownership of the property, even if we are not getting the mortgage.</a:t>
            </a:r>
            <a:endParaRPr lang="en-US" dirty="0"/>
          </a:p>
          <a:p>
            <a:endParaRPr lang="en-US" dirty="0"/>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4">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2" name="Date Placeholder 1">
            <a:extLst>
              <a:ext uri="{FF2B5EF4-FFF2-40B4-BE49-F238E27FC236}">
                <a16:creationId xmlns:a16="http://schemas.microsoft.com/office/drawing/2014/main" id="{79FEF5E3-A9B5-40BD-98D9-FC415D44B922}"/>
              </a:ext>
            </a:extLst>
          </p:cNvPr>
          <p:cNvSpPr>
            <a:spLocks noGrp="1"/>
          </p:cNvSpPr>
          <p:nvPr>
            <p:ph type="dt" sz="half" idx="10"/>
          </p:nvPr>
        </p:nvSpPr>
        <p:spPr/>
        <p:txBody>
          <a:bodyPr/>
          <a:lstStyle/>
          <a:p>
            <a:fld id="{867B30DB-AE09-4AAB-B4B9-F74141DBAA71}" type="datetime1">
              <a:rPr lang="en-US" smtClean="0"/>
              <a:t>4/30/2020</a:t>
            </a:fld>
            <a:endParaRPr lang="en-US"/>
          </a:p>
        </p:txBody>
      </p:sp>
      <p:sp>
        <p:nvSpPr>
          <p:cNvPr id="5" name="Slide Number Placeholder 4">
            <a:extLst>
              <a:ext uri="{FF2B5EF4-FFF2-40B4-BE49-F238E27FC236}">
                <a16:creationId xmlns:a16="http://schemas.microsoft.com/office/drawing/2014/main" id="{E9BD20E4-A977-48FC-B7F7-ED6B19A9039F}"/>
              </a:ext>
            </a:extLst>
          </p:cNvPr>
          <p:cNvSpPr>
            <a:spLocks noGrp="1"/>
          </p:cNvSpPr>
          <p:nvPr>
            <p:ph type="sldNum" sz="quarter" idx="12"/>
          </p:nvPr>
        </p:nvSpPr>
        <p:spPr/>
        <p:txBody>
          <a:bodyPr/>
          <a:lstStyle/>
          <a:p>
            <a:fld id="{4AA01191-0D54-4503-942B-A80E3AB8E296}" type="slidenum">
              <a:rPr lang="en-US" smtClean="0"/>
              <a:t>6</a:t>
            </a:fld>
            <a:endParaRPr lang="en-US"/>
          </a:p>
        </p:txBody>
      </p:sp>
    </p:spTree>
    <p:extLst>
      <p:ext uri="{BB962C8B-B14F-4D97-AF65-F5344CB8AC3E}">
        <p14:creationId xmlns:p14="http://schemas.microsoft.com/office/powerpoint/2010/main" val="328824488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a:xfrm>
            <a:off x="838200" y="1427747"/>
            <a:ext cx="10515600" cy="4749215"/>
          </a:xfrm>
        </p:spPr>
        <p:txBody>
          <a:bodyPr>
            <a:normAutofit/>
          </a:bodyPr>
          <a:lstStyle/>
          <a:p>
            <a:pPr marL="288925" indent="-288925" algn="just">
              <a:buFont typeface="Wingdings" panose="05000000000000000000" pitchFamily="2" charset="2"/>
              <a:buChar char="Ø"/>
            </a:pPr>
            <a:r>
              <a:rPr lang="en-US" sz="1600" u="sng" dirty="0">
                <a:latin typeface="Cambria" panose="02040503050406030204" pitchFamily="18" charset="0"/>
                <a:ea typeface="Cambria" panose="02040503050406030204" pitchFamily="18" charset="0"/>
              </a:rPr>
              <a:t>Examples:</a:t>
            </a:r>
          </a:p>
          <a:p>
            <a:pPr marL="512763" algn="just"/>
            <a:r>
              <a:rPr lang="en-US" sz="1600" dirty="0">
                <a:latin typeface="Cambria" panose="02040503050406030204" pitchFamily="18" charset="0"/>
                <a:ea typeface="Cambria" panose="02040503050406030204" pitchFamily="18" charset="0"/>
              </a:rPr>
              <a:t>Income documents &amp; property documents submitted by customer were forged by DSA. </a:t>
            </a:r>
          </a:p>
          <a:p>
            <a:pPr marL="512763" algn="just"/>
            <a:r>
              <a:rPr lang="en-US" sz="1600" dirty="0">
                <a:latin typeface="Cambria" panose="02040503050406030204" pitchFamily="18" charset="0"/>
                <a:ea typeface="Cambria" panose="02040503050406030204" pitchFamily="18" charset="0"/>
              </a:rPr>
              <a:t>Valuer in collusion with DSA and customer gave inflated valuation which affected the LTV.</a:t>
            </a:r>
          </a:p>
          <a:p>
            <a:pPr marL="512763" algn="just"/>
            <a:r>
              <a:rPr lang="en-US" sz="1600" dirty="0">
                <a:latin typeface="Cambria" panose="02040503050406030204" pitchFamily="18" charset="0"/>
                <a:ea typeface="Cambria" panose="02040503050406030204" pitchFamily="18" charset="0"/>
              </a:rPr>
              <a:t>Title search lawyer in collusion with customer and DSA, gave false report without conducting search, where the property was already mortgaged with some other institution.</a:t>
            </a:r>
          </a:p>
          <a:p>
            <a:pPr marL="512763" algn="just"/>
            <a:r>
              <a:rPr lang="en-US" sz="1600" dirty="0">
                <a:latin typeface="Cambria" panose="02040503050406030204" pitchFamily="18" charset="0"/>
                <a:ea typeface="Cambria" panose="02040503050406030204" pitchFamily="18" charset="0"/>
              </a:rPr>
              <a:t>Channel partner submitted fake KYC documents of the customer.</a:t>
            </a:r>
          </a:p>
          <a:p>
            <a:pPr marL="512763" algn="just"/>
            <a:r>
              <a:rPr lang="en-US" sz="1600" dirty="0">
                <a:latin typeface="Cambria" panose="02040503050406030204" pitchFamily="18" charset="0"/>
                <a:ea typeface="Cambria" panose="02040503050406030204" pitchFamily="18" charset="0"/>
              </a:rPr>
              <a:t>Alliance partner shown the rented/leased shops of the customers as owned premises.</a:t>
            </a:r>
          </a:p>
          <a:p>
            <a:pPr marL="512763" algn="just">
              <a:spcBef>
                <a:spcPts val="0"/>
              </a:spcBef>
            </a:pPr>
            <a:endParaRPr lang="en-US" sz="1600" dirty="0">
              <a:latin typeface="Cambria" panose="02040503050406030204" pitchFamily="18" charset="0"/>
              <a:ea typeface="Cambria" panose="02040503050406030204" pitchFamily="18" charset="0"/>
            </a:endParaRPr>
          </a:p>
          <a:p>
            <a:pPr marL="231775" indent="-231775" algn="just">
              <a:spcBef>
                <a:spcPts val="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 </a:t>
            </a:r>
            <a:r>
              <a:rPr lang="en-US" sz="1600" u="sng" dirty="0">
                <a:latin typeface="Cambria" panose="02040503050406030204" pitchFamily="18" charset="0"/>
                <a:ea typeface="Cambria" panose="02040503050406030204" pitchFamily="18" charset="0"/>
              </a:rPr>
              <a:t>Mitigants/Checkpoints</a:t>
            </a:r>
          </a:p>
          <a:p>
            <a:pPr marL="569913" indent="-285750" algn="just"/>
            <a:r>
              <a:rPr lang="en-US" sz="1600" dirty="0">
                <a:latin typeface="Cambria" panose="02040503050406030204" pitchFamily="18" charset="0"/>
                <a:ea typeface="Cambria" panose="02040503050406030204" pitchFamily="18" charset="0"/>
              </a:rPr>
              <a:t>At the time of empaneling any vendors/DSAs/external agencies, relevant guidelines/</a:t>
            </a:r>
            <a:r>
              <a:rPr lang="en-US" sz="1600" dirty="0" err="1">
                <a:latin typeface="Cambria" panose="02040503050406030204" pitchFamily="18" charset="0"/>
                <a:ea typeface="Cambria" panose="02040503050406030204" pitchFamily="18" charset="0"/>
              </a:rPr>
              <a:t>SoPs</a:t>
            </a:r>
            <a:r>
              <a:rPr lang="en-US" sz="1600" dirty="0">
                <a:latin typeface="Cambria" panose="02040503050406030204" pitchFamily="18" charset="0"/>
                <a:ea typeface="Cambria" panose="02040503050406030204" pitchFamily="18" charset="0"/>
              </a:rPr>
              <a:t>/Policies to be strictly followed. Vendor’s/partner’s background, past </a:t>
            </a:r>
            <a:r>
              <a:rPr lang="en-US" sz="1600" dirty="0" err="1">
                <a:latin typeface="Cambria" panose="02040503050406030204" pitchFamily="18" charset="0"/>
                <a:ea typeface="Cambria" panose="02040503050406030204" pitchFamily="18" charset="0"/>
              </a:rPr>
              <a:t>behaviour</a:t>
            </a:r>
            <a:r>
              <a:rPr lang="en-US" sz="1600" dirty="0">
                <a:latin typeface="Cambria" panose="02040503050406030204" pitchFamily="18" charset="0"/>
                <a:ea typeface="Cambria" panose="02040503050406030204" pitchFamily="18" charset="0"/>
              </a:rPr>
              <a:t> with other institutions to be </a:t>
            </a:r>
            <a:r>
              <a:rPr lang="en-US" sz="1600" dirty="0" err="1">
                <a:latin typeface="Cambria" panose="02040503050406030204" pitchFamily="18" charset="0"/>
                <a:ea typeface="Cambria" panose="02040503050406030204" pitchFamily="18" charset="0"/>
              </a:rPr>
              <a:t>analysed</a:t>
            </a:r>
            <a:r>
              <a:rPr lang="en-US" sz="1600" dirty="0">
                <a:latin typeface="Cambria" panose="02040503050406030204" pitchFamily="18" charset="0"/>
                <a:ea typeface="Cambria" panose="02040503050406030204" pitchFamily="18" charset="0"/>
              </a:rPr>
              <a:t>. </a:t>
            </a:r>
          </a:p>
          <a:p>
            <a:pPr marL="569913" indent="-285750" algn="just"/>
            <a:r>
              <a:rPr lang="en-US" sz="1600" dirty="0">
                <a:latin typeface="Cambria" panose="02040503050406030204" pitchFamily="18" charset="0"/>
                <a:ea typeface="Cambria" panose="02040503050406030204" pitchFamily="18" charset="0"/>
              </a:rPr>
              <a:t>Feedback from other institutions to be taken periodically where the vendors/channel partners are empaneled.</a:t>
            </a:r>
          </a:p>
          <a:p>
            <a:pPr marL="569913" indent="-285750" algn="just"/>
            <a:r>
              <a:rPr lang="en-US" sz="1600" dirty="0">
                <a:latin typeface="Cambria" panose="02040503050406030204" pitchFamily="18" charset="0"/>
                <a:ea typeface="Cambria" panose="02040503050406030204" pitchFamily="18" charset="0"/>
              </a:rPr>
              <a:t>Quality of customers suggested/work delivered by vendors/DSA to be regularly monitored and highlighted if there is a concern in the quality.</a:t>
            </a:r>
          </a:p>
          <a:p>
            <a:pPr marL="569913" indent="-285750" algn="just"/>
            <a:r>
              <a:rPr lang="en-US" sz="1600" dirty="0">
                <a:latin typeface="Cambria" panose="02040503050406030204" pitchFamily="18" charset="0"/>
                <a:ea typeface="Cambria" panose="02040503050406030204" pitchFamily="18" charset="0"/>
              </a:rPr>
              <a:t>Work should be distributed equally amongst all the vendors.</a:t>
            </a:r>
          </a:p>
          <a:p>
            <a:pPr marL="284163" indent="0" algn="just">
              <a:buNone/>
            </a:pPr>
            <a:endParaRPr lang="en-US" sz="1600" dirty="0">
              <a:highlight>
                <a:srgbClr val="FFFF00"/>
              </a:highlight>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3">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Title 1">
            <a:extLst>
              <a:ext uri="{FF2B5EF4-FFF2-40B4-BE49-F238E27FC236}">
                <a16:creationId xmlns:a16="http://schemas.microsoft.com/office/drawing/2014/main" id="{02B0A1CA-902B-440D-94BE-0779FE3AECE3}"/>
              </a:ext>
            </a:extLst>
          </p:cNvPr>
          <p:cNvSpPr>
            <a:spLocks noGrp="1"/>
          </p:cNvSpPr>
          <p:nvPr>
            <p:ph type="title"/>
          </p:nvPr>
        </p:nvSpPr>
        <p:spPr>
          <a:xfrm>
            <a:off x="1322362" y="365126"/>
            <a:ext cx="9678573" cy="950327"/>
          </a:xfrm>
        </p:spPr>
        <p:txBody>
          <a:bodyPr>
            <a:normAutofit/>
          </a:bodyPr>
          <a:lstStyle/>
          <a:p>
            <a:pPr algn="ctr"/>
            <a:r>
              <a:rPr lang="en-US" sz="2800" dirty="0">
                <a:latin typeface="Cambria" panose="02040503050406030204" pitchFamily="18" charset="0"/>
                <a:ea typeface="Cambria" panose="02040503050406030204" pitchFamily="18" charset="0"/>
              </a:rPr>
              <a:t>Collusion between DSA/channel partners/vendors and customers</a:t>
            </a:r>
          </a:p>
        </p:txBody>
      </p:sp>
      <p:sp>
        <p:nvSpPr>
          <p:cNvPr id="2" name="Date Placeholder 1">
            <a:extLst>
              <a:ext uri="{FF2B5EF4-FFF2-40B4-BE49-F238E27FC236}">
                <a16:creationId xmlns:a16="http://schemas.microsoft.com/office/drawing/2014/main" id="{B3B0CE11-53A4-450A-9DFC-AAFBB8C2D6EC}"/>
              </a:ext>
            </a:extLst>
          </p:cNvPr>
          <p:cNvSpPr>
            <a:spLocks noGrp="1"/>
          </p:cNvSpPr>
          <p:nvPr>
            <p:ph type="dt" sz="half" idx="10"/>
          </p:nvPr>
        </p:nvSpPr>
        <p:spPr/>
        <p:txBody>
          <a:bodyPr/>
          <a:lstStyle/>
          <a:p>
            <a:fld id="{B379A6B1-5F4E-44D8-91E9-2F3E68140844}" type="datetime1">
              <a:rPr lang="en-US" smtClean="0"/>
              <a:t>4/30/2020</a:t>
            </a:fld>
            <a:endParaRPr lang="en-US"/>
          </a:p>
        </p:txBody>
      </p:sp>
      <p:sp>
        <p:nvSpPr>
          <p:cNvPr id="7" name="Slide Number Placeholder 6">
            <a:extLst>
              <a:ext uri="{FF2B5EF4-FFF2-40B4-BE49-F238E27FC236}">
                <a16:creationId xmlns:a16="http://schemas.microsoft.com/office/drawing/2014/main" id="{135FE764-1428-4116-924E-CF7D63B1541E}"/>
              </a:ext>
            </a:extLst>
          </p:cNvPr>
          <p:cNvSpPr>
            <a:spLocks noGrp="1"/>
          </p:cNvSpPr>
          <p:nvPr>
            <p:ph type="sldNum" sz="quarter" idx="12"/>
          </p:nvPr>
        </p:nvSpPr>
        <p:spPr/>
        <p:txBody>
          <a:bodyPr/>
          <a:lstStyle/>
          <a:p>
            <a:fld id="{4AA01191-0D54-4503-942B-A80E3AB8E296}" type="slidenum">
              <a:rPr lang="en-US" smtClean="0"/>
              <a:t>7</a:t>
            </a:fld>
            <a:endParaRPr lang="en-US"/>
          </a:p>
        </p:txBody>
      </p:sp>
    </p:spTree>
    <p:extLst>
      <p:ext uri="{BB962C8B-B14F-4D97-AF65-F5344CB8AC3E}">
        <p14:creationId xmlns:p14="http://schemas.microsoft.com/office/powerpoint/2010/main" val="3697388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C0CB-D78A-4C98-BE9B-BF8355CDBA3A}"/>
              </a:ext>
            </a:extLst>
          </p:cNvPr>
          <p:cNvSpPr>
            <a:spLocks noGrp="1"/>
          </p:cNvSpPr>
          <p:nvPr>
            <p:ph type="title"/>
          </p:nvPr>
        </p:nvSpPr>
        <p:spPr>
          <a:xfrm>
            <a:off x="838200" y="365126"/>
            <a:ext cx="10515600" cy="863174"/>
          </a:xfrm>
        </p:spPr>
        <p:txBody>
          <a:bodyPr>
            <a:normAutofit/>
          </a:bodyPr>
          <a:lstStyle/>
          <a:p>
            <a:pPr algn="ctr"/>
            <a:r>
              <a:rPr lang="en-US" sz="2800" dirty="0">
                <a:latin typeface="Cambria" panose="02040503050406030204" pitchFamily="18" charset="0"/>
                <a:ea typeface="Cambria" panose="02040503050406030204" pitchFamily="18" charset="0"/>
              </a:rPr>
              <a:t>Critical document fraud</a:t>
            </a:r>
          </a:p>
        </p:txBody>
      </p:sp>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a:xfrm>
            <a:off x="838200" y="1310186"/>
            <a:ext cx="10515600" cy="4866778"/>
          </a:xfrm>
        </p:spPr>
        <p:txBody>
          <a:bodyPr>
            <a:normAutofit/>
          </a:bodyPr>
          <a:lstStyle/>
          <a:p>
            <a:pPr algn="just">
              <a:buFont typeface="Wingdings" panose="05000000000000000000" pitchFamily="2" charset="2"/>
              <a:buChar char="Ø"/>
            </a:pPr>
            <a:r>
              <a:rPr lang="en-US" sz="1800" u="sng" dirty="0">
                <a:latin typeface="Cambria" panose="02040503050406030204" pitchFamily="18" charset="0"/>
                <a:ea typeface="Cambria" panose="02040503050406030204" pitchFamily="18" charset="0"/>
              </a:rPr>
              <a:t>Examples:</a:t>
            </a:r>
          </a:p>
          <a:p>
            <a:pPr marL="395288" indent="-107950" algn="just">
              <a:spcBef>
                <a:spcPts val="600"/>
              </a:spcBef>
            </a:pPr>
            <a:r>
              <a:rPr lang="en-US" sz="1600" dirty="0">
                <a:latin typeface="Cambria" panose="02040503050406030204" pitchFamily="18" charset="0"/>
                <a:ea typeface="Cambria" panose="02040503050406030204" pitchFamily="18" charset="0"/>
              </a:rPr>
              <a:t>Licenses/Approvals required from government authorities for running restaurant were forged and submitted. This may be applicable for other businesses also, such as hotels/schools etc.</a:t>
            </a:r>
          </a:p>
          <a:p>
            <a:pPr marL="395288" indent="-107950" algn="just">
              <a:spcBef>
                <a:spcPts val="600"/>
              </a:spcBef>
            </a:pPr>
            <a:r>
              <a:rPr lang="en-US" sz="1600" dirty="0">
                <a:latin typeface="Cambria" panose="02040503050406030204" pitchFamily="18" charset="0"/>
                <a:ea typeface="Cambria" panose="02040503050406030204" pitchFamily="18" charset="0"/>
              </a:rPr>
              <a:t>DSA/alliance partner and customer confirmed that all the approvals for running business is in place. It was found that shop was in residential zone and the building was demolished by MCD during ceiling drive in Delhi.</a:t>
            </a:r>
          </a:p>
          <a:p>
            <a:pPr marL="395288" indent="-107950" algn="just">
              <a:spcBef>
                <a:spcPts val="600"/>
              </a:spcBef>
            </a:pPr>
            <a:r>
              <a:rPr lang="en-US" sz="1600" dirty="0">
                <a:latin typeface="Cambria" panose="02040503050406030204" pitchFamily="18" charset="0"/>
                <a:ea typeface="Cambria" panose="02040503050406030204" pitchFamily="18" charset="0"/>
              </a:rPr>
              <a:t>One of the borrowers denied having signed the loan documents. </a:t>
            </a:r>
          </a:p>
          <a:p>
            <a:pPr marL="395288" indent="-107950" algn="just">
              <a:spcBef>
                <a:spcPts val="600"/>
              </a:spcBef>
            </a:pPr>
            <a:r>
              <a:rPr lang="en-US" sz="1600" dirty="0">
                <a:latin typeface="Cambria" panose="02040503050406030204" pitchFamily="18" charset="0"/>
                <a:ea typeface="Cambria" panose="02040503050406030204" pitchFamily="18" charset="0"/>
              </a:rPr>
              <a:t>Salary Slip was forged by the borrower.</a:t>
            </a:r>
          </a:p>
          <a:p>
            <a:pPr marL="395288" indent="-107950" algn="just">
              <a:spcBef>
                <a:spcPts val="600"/>
              </a:spcBef>
            </a:pPr>
            <a:r>
              <a:rPr lang="en-US" sz="1600" dirty="0">
                <a:latin typeface="Cambria" panose="02040503050406030204" pitchFamily="18" charset="0"/>
                <a:ea typeface="Cambria" panose="02040503050406030204" pitchFamily="18" charset="0"/>
              </a:rPr>
              <a:t>Income documents, ID proofs &amp; property documents submitted by customer were forged. </a:t>
            </a:r>
          </a:p>
          <a:p>
            <a:pPr marL="395288" indent="-107950" algn="just">
              <a:spcBef>
                <a:spcPts val="600"/>
              </a:spcBef>
            </a:pPr>
            <a:r>
              <a:rPr lang="en-US" sz="1600" dirty="0">
                <a:latin typeface="Cambria" panose="02040503050406030204" pitchFamily="18" charset="0"/>
                <a:ea typeface="Cambria" panose="02040503050406030204" pitchFamily="18" charset="0"/>
              </a:rPr>
              <a:t>The customer produced forged income papers showing as NRI and employed in Singapore.</a:t>
            </a:r>
          </a:p>
          <a:p>
            <a:pPr marL="231775" indent="-231775" algn="just">
              <a:buFont typeface="Wingdings" panose="05000000000000000000" pitchFamily="2" charset="2"/>
              <a:buChar char="Ø"/>
            </a:pPr>
            <a:r>
              <a:rPr lang="en-US" sz="1800" u="sng" dirty="0">
                <a:latin typeface="Cambria" panose="02040503050406030204" pitchFamily="18" charset="0"/>
                <a:ea typeface="Cambria" panose="02040503050406030204" pitchFamily="18" charset="0"/>
              </a:rPr>
              <a:t>Mitigants/Checkpoints:</a:t>
            </a:r>
          </a:p>
          <a:p>
            <a:pPr marL="396875" indent="-168275" algn="just">
              <a:spcBef>
                <a:spcPts val="600"/>
              </a:spcBef>
            </a:pPr>
            <a:r>
              <a:rPr lang="en-US" sz="1600" dirty="0">
                <a:latin typeface="Cambria" panose="02040503050406030204" pitchFamily="18" charset="0"/>
                <a:ea typeface="Cambria" panose="02040503050406030204" pitchFamily="18" charset="0"/>
              </a:rPr>
              <a:t>Verification of documents with government websites.</a:t>
            </a:r>
          </a:p>
          <a:p>
            <a:pPr marL="395288" indent="-163513" algn="just">
              <a:spcBef>
                <a:spcPts val="600"/>
              </a:spcBef>
            </a:pPr>
            <a:r>
              <a:rPr lang="en-US" sz="1600" dirty="0">
                <a:latin typeface="Cambria" panose="02040503050406030204" pitchFamily="18" charset="0"/>
                <a:ea typeface="Cambria" panose="02040503050406030204" pitchFamily="18" charset="0"/>
              </a:rPr>
              <a:t>Verification of salary slips with employer. Salary amount should be compared with Bank Statement. Cross verification of balance sheet.</a:t>
            </a:r>
          </a:p>
          <a:p>
            <a:pPr marL="395288" indent="-163513" algn="just">
              <a:spcBef>
                <a:spcPts val="600"/>
              </a:spcBef>
            </a:pPr>
            <a:r>
              <a:rPr lang="en-US" sz="1600" dirty="0">
                <a:latin typeface="Cambria" panose="02040503050406030204" pitchFamily="18" charset="0"/>
                <a:ea typeface="Cambria" panose="02040503050406030204" pitchFamily="18" charset="0"/>
              </a:rPr>
              <a:t>Personal discussion with the borrower plays very important role. </a:t>
            </a:r>
          </a:p>
          <a:p>
            <a:pPr marL="395288" indent="-163513" algn="just">
              <a:spcBef>
                <a:spcPts val="600"/>
              </a:spcBef>
            </a:pPr>
            <a:r>
              <a:rPr lang="en-US" sz="1600" dirty="0">
                <a:latin typeface="Cambria" panose="02040503050406030204" pitchFamily="18" charset="0"/>
                <a:ea typeface="Cambria" panose="02040503050406030204" pitchFamily="18" charset="0"/>
              </a:rPr>
              <a:t>Execution of the loan documents to be done strictly in presence of the APAC official/representative. In no scenario the Borrowers should be allowed to take loan documents home/elsewhere for execution.</a:t>
            </a:r>
          </a:p>
          <a:p>
            <a:pPr marL="395288" indent="-163513" algn="just">
              <a:spcBef>
                <a:spcPts val="600"/>
              </a:spcBef>
            </a:pPr>
            <a:r>
              <a:rPr lang="en-US" sz="1600" dirty="0">
                <a:latin typeface="Cambria" panose="02040503050406030204" pitchFamily="18" charset="0"/>
                <a:ea typeface="Cambria" panose="02040503050406030204" pitchFamily="18" charset="0"/>
              </a:rPr>
              <a:t>Apply the tools, we have at disposal to verify such documents such as </a:t>
            </a:r>
            <a:r>
              <a:rPr lang="en-US" sz="1600" dirty="0" err="1">
                <a:latin typeface="Cambria" panose="02040503050406030204" pitchFamily="18" charset="0"/>
                <a:ea typeface="Cambria" panose="02040503050406030204" pitchFamily="18" charset="0"/>
              </a:rPr>
              <a:t>Karza</a:t>
            </a:r>
            <a:r>
              <a:rPr lang="en-US" sz="1600" dirty="0">
                <a:latin typeface="Cambria" panose="02040503050406030204" pitchFamily="18" charset="0"/>
                <a:ea typeface="Cambria" panose="02040503050406030204" pitchFamily="18" charset="0"/>
              </a:rPr>
              <a:t>, sherlock etc. </a:t>
            </a:r>
          </a:p>
          <a:p>
            <a:pPr marL="0" indent="0" algn="just">
              <a:spcBef>
                <a:spcPts val="0"/>
              </a:spcBef>
              <a:buNone/>
            </a:pPr>
            <a:endParaRPr lang="en-US" dirty="0"/>
          </a:p>
          <a:p>
            <a:pPr marL="573088" indent="-285750" algn="just"/>
            <a:endParaRPr lang="en-US" sz="1600" dirty="0">
              <a:latin typeface="Cambria" panose="02040503050406030204" pitchFamily="18" charset="0"/>
              <a:ea typeface="Cambria" panose="02040503050406030204" pitchFamily="18" charset="0"/>
            </a:endParaRPr>
          </a:p>
          <a:p>
            <a:pPr marL="573088" indent="-285750" algn="just"/>
            <a:endParaRPr lang="en-US" sz="1800" u="sng" dirty="0">
              <a:latin typeface="Cambria" panose="02040503050406030204" pitchFamily="18" charset="0"/>
              <a:ea typeface="Cambria" panose="02040503050406030204" pitchFamily="18" charset="0"/>
            </a:endParaRPr>
          </a:p>
          <a:p>
            <a:pPr marL="347663" indent="0" algn="just">
              <a:buNone/>
            </a:pPr>
            <a:endParaRPr lang="en-US" sz="24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3">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Date Placeholder 4">
            <a:extLst>
              <a:ext uri="{FF2B5EF4-FFF2-40B4-BE49-F238E27FC236}">
                <a16:creationId xmlns:a16="http://schemas.microsoft.com/office/drawing/2014/main" id="{21DDEB74-0326-45EB-B16A-D61F339C1704}"/>
              </a:ext>
            </a:extLst>
          </p:cNvPr>
          <p:cNvSpPr>
            <a:spLocks noGrp="1"/>
          </p:cNvSpPr>
          <p:nvPr>
            <p:ph type="dt" sz="half" idx="10"/>
          </p:nvPr>
        </p:nvSpPr>
        <p:spPr/>
        <p:txBody>
          <a:bodyPr/>
          <a:lstStyle/>
          <a:p>
            <a:fld id="{B4B3735C-9D6A-4E77-8B71-ACB8F9B7FF16}" type="datetime1">
              <a:rPr lang="en-US" smtClean="0"/>
              <a:t>4/30/2020</a:t>
            </a:fld>
            <a:endParaRPr lang="en-US" dirty="0"/>
          </a:p>
        </p:txBody>
      </p:sp>
      <p:sp>
        <p:nvSpPr>
          <p:cNvPr id="7" name="Slide Number Placeholder 6">
            <a:extLst>
              <a:ext uri="{FF2B5EF4-FFF2-40B4-BE49-F238E27FC236}">
                <a16:creationId xmlns:a16="http://schemas.microsoft.com/office/drawing/2014/main" id="{81C9EBA3-7583-4AC4-BAC4-EE2F646B2372}"/>
              </a:ext>
            </a:extLst>
          </p:cNvPr>
          <p:cNvSpPr>
            <a:spLocks noGrp="1"/>
          </p:cNvSpPr>
          <p:nvPr>
            <p:ph type="sldNum" sz="quarter" idx="12"/>
          </p:nvPr>
        </p:nvSpPr>
        <p:spPr/>
        <p:txBody>
          <a:bodyPr/>
          <a:lstStyle/>
          <a:p>
            <a:fld id="{4AA01191-0D54-4503-942B-A80E3AB8E296}" type="slidenum">
              <a:rPr lang="en-US" smtClean="0"/>
              <a:t>8</a:t>
            </a:fld>
            <a:endParaRPr lang="en-US"/>
          </a:p>
        </p:txBody>
      </p:sp>
    </p:spTree>
    <p:extLst>
      <p:ext uri="{BB962C8B-B14F-4D97-AF65-F5344CB8AC3E}">
        <p14:creationId xmlns:p14="http://schemas.microsoft.com/office/powerpoint/2010/main" val="3618570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C0CB-D78A-4C98-BE9B-BF8355CDBA3A}"/>
              </a:ext>
            </a:extLst>
          </p:cNvPr>
          <p:cNvSpPr>
            <a:spLocks noGrp="1"/>
          </p:cNvSpPr>
          <p:nvPr>
            <p:ph type="title"/>
          </p:nvPr>
        </p:nvSpPr>
        <p:spPr>
          <a:xfrm>
            <a:off x="2074460" y="504967"/>
            <a:ext cx="8256895" cy="423081"/>
          </a:xfrm>
        </p:spPr>
        <p:txBody>
          <a:bodyPr>
            <a:normAutofit fontScale="90000"/>
          </a:bodyPr>
          <a:lstStyle/>
          <a:p>
            <a:pPr algn="ctr"/>
            <a:r>
              <a:rPr lang="en-US" sz="3100" dirty="0">
                <a:latin typeface="Cambria" panose="02040503050406030204" pitchFamily="18" charset="0"/>
                <a:ea typeface="Cambria" panose="02040503050406030204" pitchFamily="18" charset="0"/>
              </a:rPr>
              <a:t>Own Contribution Money (OCR)</a:t>
            </a:r>
            <a:br>
              <a:rPr lang="en-US" sz="2800" dirty="0">
                <a:latin typeface="Cambria" panose="02040503050406030204" pitchFamily="18" charset="0"/>
                <a:ea typeface="Cambria" panose="02040503050406030204" pitchFamily="18" charset="0"/>
              </a:rPr>
            </a:br>
            <a:endParaRPr lang="en-US" sz="2800"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a:xfrm>
            <a:off x="838200" y="1078173"/>
            <a:ext cx="10515600" cy="5098790"/>
          </a:xfrm>
        </p:spPr>
        <p:txBody>
          <a:bodyPr>
            <a:normAutofit/>
          </a:bodyPr>
          <a:lstStyle/>
          <a:p>
            <a:pPr marL="231775" indent="-231775" algn="just">
              <a:lnSpc>
                <a:spcPct val="100000"/>
              </a:lnSpc>
              <a:spcBef>
                <a:spcPts val="600"/>
              </a:spcBef>
              <a:buFont typeface="Wingdings" panose="05000000000000000000" pitchFamily="2" charset="2"/>
              <a:buChar char="Ø"/>
            </a:pPr>
            <a:r>
              <a:rPr lang="en-US" sz="1600" dirty="0">
                <a:latin typeface="Cambria" panose="02040503050406030204" pitchFamily="18" charset="0"/>
                <a:ea typeface="Cambria" panose="02040503050406030204" pitchFamily="18" charset="0"/>
              </a:rPr>
              <a:t>Own contribution money is a part of the price/expenses incurred in connection with the purchase or construction of real estate, which is not financed by the financing institution. This means that it must be contributed by the borrower. Own contribution money in loan also underlines the financial commitment of the borrower to the property and it also shows the intention of the borrower to own the property</a:t>
            </a:r>
          </a:p>
          <a:p>
            <a:pPr marL="231775" indent="-231775" algn="just">
              <a:lnSpc>
                <a:spcPct val="100000"/>
              </a:lnSpc>
              <a:spcBef>
                <a:spcPts val="600"/>
              </a:spcBef>
              <a:buFont typeface="Wingdings" panose="05000000000000000000" pitchFamily="2" charset="2"/>
              <a:buChar char="Ø"/>
            </a:pPr>
            <a:r>
              <a:rPr lang="en-US" sz="1800" u="sng" dirty="0">
                <a:latin typeface="Cambria" panose="02040503050406030204" pitchFamily="18" charset="0"/>
                <a:ea typeface="Cambria" panose="02040503050406030204" pitchFamily="18" charset="0"/>
              </a:rPr>
              <a:t>Examples:</a:t>
            </a:r>
          </a:p>
          <a:p>
            <a:pPr marL="395288" indent="-163513" algn="just">
              <a:lnSpc>
                <a:spcPct val="100000"/>
              </a:lnSpc>
              <a:spcBef>
                <a:spcPts val="600"/>
              </a:spcBef>
            </a:pPr>
            <a:r>
              <a:rPr lang="en-US" sz="1600" dirty="0">
                <a:latin typeface="Cambria" panose="02040503050406030204" pitchFamily="18" charset="0"/>
                <a:ea typeface="Cambria" panose="02040503050406030204" pitchFamily="18" charset="0"/>
              </a:rPr>
              <a:t>OCR was transferred by seller through some other persons account to suppress the clear trail. Customer fabricated the narration of OCR transfer in banks statement to hide source of funds. </a:t>
            </a:r>
          </a:p>
          <a:p>
            <a:pPr marL="395288" indent="-163513" algn="just">
              <a:lnSpc>
                <a:spcPct val="100000"/>
              </a:lnSpc>
              <a:spcBef>
                <a:spcPts val="600"/>
              </a:spcBef>
            </a:pPr>
            <a:r>
              <a:rPr lang="en-US" sz="1600" dirty="0">
                <a:latin typeface="Cambria" panose="02040503050406030204" pitchFamily="18" charset="0"/>
                <a:ea typeface="Cambria" panose="02040503050406030204" pitchFamily="18" charset="0"/>
              </a:rPr>
              <a:t>Seller being a friend of customer transferred OCR through some other person’s account to customer’s account. To suppress the clear trail, customer fabricated the narrations of OCR transfer in bank statement to hide source of funds. </a:t>
            </a:r>
          </a:p>
          <a:p>
            <a:pPr marL="231775" indent="-231775" algn="just">
              <a:buFont typeface="Wingdings" panose="05000000000000000000" pitchFamily="2" charset="2"/>
              <a:buChar char="Ø"/>
            </a:pPr>
            <a:r>
              <a:rPr lang="en-US" sz="1800" u="sng" dirty="0">
                <a:latin typeface="Cambria" panose="02040503050406030204" pitchFamily="18" charset="0"/>
                <a:ea typeface="Cambria" panose="02040503050406030204" pitchFamily="18" charset="0"/>
              </a:rPr>
              <a:t>Mitigants/Checkpoints:</a:t>
            </a:r>
          </a:p>
          <a:p>
            <a:pPr marL="395288" lvl="0" indent="-163513"/>
            <a:r>
              <a:rPr lang="en-US" sz="1600" dirty="0">
                <a:latin typeface="Cambria" panose="02040503050406030204" pitchFamily="18" charset="0"/>
                <a:ea typeface="Cambria" panose="02040503050406030204" pitchFamily="18" charset="0"/>
              </a:rPr>
              <a:t>Verification of the source of funds to be done through Bank statement </a:t>
            </a:r>
          </a:p>
          <a:p>
            <a:pPr marL="395288" lvl="0" indent="-163513"/>
            <a:r>
              <a:rPr lang="en-US" sz="1600" dirty="0">
                <a:latin typeface="Cambria" panose="02040503050406030204" pitchFamily="18" charset="0"/>
                <a:ea typeface="Cambria" panose="02040503050406030204" pitchFamily="18" charset="0"/>
              </a:rPr>
              <a:t>Huge cash deposits (if any) to be verified.</a:t>
            </a: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3">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Date Placeholder 4">
            <a:extLst>
              <a:ext uri="{FF2B5EF4-FFF2-40B4-BE49-F238E27FC236}">
                <a16:creationId xmlns:a16="http://schemas.microsoft.com/office/drawing/2014/main" id="{11F3BDC0-E8F6-4452-8C1D-9BB2EF43CA27}"/>
              </a:ext>
            </a:extLst>
          </p:cNvPr>
          <p:cNvSpPr>
            <a:spLocks noGrp="1"/>
          </p:cNvSpPr>
          <p:nvPr>
            <p:ph type="dt" sz="half" idx="10"/>
          </p:nvPr>
        </p:nvSpPr>
        <p:spPr/>
        <p:txBody>
          <a:bodyPr/>
          <a:lstStyle/>
          <a:p>
            <a:fld id="{1D28022A-D736-4EB2-8759-6E443020F7E7}" type="datetime1">
              <a:rPr lang="en-US" smtClean="0"/>
              <a:t>4/30/2020</a:t>
            </a:fld>
            <a:endParaRPr lang="en-US"/>
          </a:p>
        </p:txBody>
      </p:sp>
      <p:sp>
        <p:nvSpPr>
          <p:cNvPr id="7" name="Slide Number Placeholder 6">
            <a:extLst>
              <a:ext uri="{FF2B5EF4-FFF2-40B4-BE49-F238E27FC236}">
                <a16:creationId xmlns:a16="http://schemas.microsoft.com/office/drawing/2014/main" id="{6B160472-6CD0-41BD-A186-F38448069BC1}"/>
              </a:ext>
            </a:extLst>
          </p:cNvPr>
          <p:cNvSpPr>
            <a:spLocks noGrp="1"/>
          </p:cNvSpPr>
          <p:nvPr>
            <p:ph type="sldNum" sz="quarter" idx="12"/>
          </p:nvPr>
        </p:nvSpPr>
        <p:spPr/>
        <p:txBody>
          <a:bodyPr/>
          <a:lstStyle/>
          <a:p>
            <a:fld id="{4AA01191-0D54-4503-942B-A80E3AB8E296}" type="slidenum">
              <a:rPr lang="en-US" smtClean="0"/>
              <a:t>9</a:t>
            </a:fld>
            <a:endParaRPr lang="en-US"/>
          </a:p>
        </p:txBody>
      </p:sp>
    </p:spTree>
    <p:extLst>
      <p:ext uri="{BB962C8B-B14F-4D97-AF65-F5344CB8AC3E}">
        <p14:creationId xmlns:p14="http://schemas.microsoft.com/office/powerpoint/2010/main" val="1327885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a:xfrm>
            <a:off x="838200" y="1815151"/>
            <a:ext cx="10515600" cy="4361811"/>
          </a:xfrm>
        </p:spPr>
        <p:txBody>
          <a:bodyPr>
            <a:normAutofit/>
          </a:bodyPr>
          <a:lstStyle/>
          <a:p>
            <a:pPr algn="just">
              <a:lnSpc>
                <a:spcPct val="100000"/>
              </a:lnSpc>
              <a:spcBef>
                <a:spcPts val="600"/>
              </a:spcBef>
              <a:buFont typeface="Wingdings" panose="05000000000000000000" pitchFamily="2" charset="2"/>
              <a:buChar char="Ø"/>
            </a:pPr>
            <a:r>
              <a:rPr lang="en-US" sz="2000" dirty="0">
                <a:latin typeface="Cambria" panose="02040503050406030204" pitchFamily="18" charset="0"/>
                <a:ea typeface="Cambria" panose="02040503050406030204" pitchFamily="18" charset="0"/>
              </a:rPr>
              <a:t>There can be various other different types of frauds. Things we can do to prevent these kind of frauds:</a:t>
            </a:r>
          </a:p>
          <a:p>
            <a:pPr marL="0" indent="0" algn="just">
              <a:lnSpc>
                <a:spcPct val="100000"/>
              </a:lnSpc>
              <a:spcBef>
                <a:spcPts val="600"/>
              </a:spcBef>
              <a:buNone/>
            </a:pPr>
            <a:endParaRPr lang="en-US" sz="2000" dirty="0">
              <a:latin typeface="Cambria" panose="02040503050406030204" pitchFamily="18" charset="0"/>
              <a:ea typeface="Cambria" panose="02040503050406030204" pitchFamily="18" charset="0"/>
            </a:endParaRPr>
          </a:p>
          <a:p>
            <a:pPr marL="395288" algn="just">
              <a:lnSpc>
                <a:spcPct val="100000"/>
              </a:lnSpc>
              <a:spcBef>
                <a:spcPts val="600"/>
              </a:spcBef>
            </a:pPr>
            <a:r>
              <a:rPr lang="en-US" sz="1800" dirty="0">
                <a:latin typeface="Cambria" panose="02040503050406030204" pitchFamily="18" charset="0"/>
                <a:ea typeface="Cambria" panose="02040503050406030204" pitchFamily="18" charset="0"/>
              </a:rPr>
              <a:t>Be vigilant and attentive all the time while doing due diligence;</a:t>
            </a:r>
          </a:p>
          <a:p>
            <a:pPr marL="395288" algn="just">
              <a:lnSpc>
                <a:spcPct val="100000"/>
              </a:lnSpc>
              <a:spcBef>
                <a:spcPts val="600"/>
              </a:spcBef>
            </a:pPr>
            <a:r>
              <a:rPr lang="en-US" sz="1800" dirty="0">
                <a:latin typeface="Cambria" panose="02040503050406030204" pitchFamily="18" charset="0"/>
                <a:ea typeface="Cambria" panose="02040503050406030204" pitchFamily="18" charset="0"/>
              </a:rPr>
              <a:t>Know and strictly adhere to the policies of the Company;</a:t>
            </a:r>
          </a:p>
          <a:p>
            <a:pPr marL="395288" algn="just">
              <a:lnSpc>
                <a:spcPct val="100000"/>
              </a:lnSpc>
              <a:spcBef>
                <a:spcPts val="600"/>
              </a:spcBef>
            </a:pPr>
            <a:r>
              <a:rPr lang="en-US" sz="1800" dirty="0">
                <a:latin typeface="Cambria" panose="02040503050406030204" pitchFamily="18" charset="0"/>
                <a:ea typeface="Cambria" panose="02040503050406030204" pitchFamily="18" charset="0"/>
              </a:rPr>
              <a:t>Stay updated on the frauds being perpetrated in local markets;</a:t>
            </a:r>
          </a:p>
          <a:p>
            <a:pPr marL="395288" algn="just">
              <a:lnSpc>
                <a:spcPct val="100000"/>
              </a:lnSpc>
              <a:spcBef>
                <a:spcPts val="600"/>
              </a:spcBef>
            </a:pPr>
            <a:r>
              <a:rPr lang="en-US" sz="1800" dirty="0">
                <a:latin typeface="Cambria" panose="02040503050406030204" pitchFamily="18" charset="0"/>
                <a:ea typeface="Cambria" panose="02040503050406030204" pitchFamily="18" charset="0"/>
              </a:rPr>
              <a:t>Do not succumb to target pressure and do your due-diligence;</a:t>
            </a:r>
          </a:p>
          <a:p>
            <a:pPr marL="395288" algn="just">
              <a:lnSpc>
                <a:spcPct val="100000"/>
              </a:lnSpc>
              <a:spcBef>
                <a:spcPts val="600"/>
              </a:spcBef>
            </a:pPr>
            <a:r>
              <a:rPr lang="en-US" sz="1800" dirty="0">
                <a:latin typeface="Cambria" panose="02040503050406030204" pitchFamily="18" charset="0"/>
                <a:ea typeface="Cambria" panose="02040503050406030204" pitchFamily="18" charset="0"/>
              </a:rPr>
              <a:t>Pre disbursement welcome call is important.</a:t>
            </a:r>
          </a:p>
          <a:p>
            <a:pPr marL="395288" algn="just">
              <a:lnSpc>
                <a:spcPct val="100000"/>
              </a:lnSpc>
              <a:spcBef>
                <a:spcPts val="600"/>
              </a:spcBef>
            </a:pPr>
            <a:r>
              <a:rPr lang="en-US" sz="1800" dirty="0">
                <a:latin typeface="Cambria" panose="02040503050406030204" pitchFamily="18" charset="0"/>
                <a:ea typeface="Cambria" panose="02040503050406030204" pitchFamily="18" charset="0"/>
              </a:rPr>
              <a:t>Personal discussion with the borrower plays a very important role. While meeting the borrower personally, we can assess the intention/commitment of the borrower for the </a:t>
            </a:r>
            <a:r>
              <a:rPr lang="en-US" sz="1800" dirty="0" err="1">
                <a:latin typeface="Cambria" panose="02040503050406030204" pitchFamily="18" charset="0"/>
                <a:ea typeface="Cambria" panose="02040503050406030204" pitchFamily="18" charset="0"/>
              </a:rPr>
              <a:t>availment</a:t>
            </a:r>
            <a:r>
              <a:rPr lang="en-US" sz="1800" dirty="0">
                <a:latin typeface="Cambria" panose="02040503050406030204" pitchFamily="18" charset="0"/>
                <a:ea typeface="Cambria" panose="02040503050406030204" pitchFamily="18" charset="0"/>
              </a:rPr>
              <a:t> and repayment of the loan. </a:t>
            </a:r>
          </a:p>
          <a:p>
            <a:pPr marL="166688" indent="0" algn="just">
              <a:lnSpc>
                <a:spcPct val="100000"/>
              </a:lnSpc>
              <a:spcBef>
                <a:spcPts val="600"/>
              </a:spcBef>
              <a:buNone/>
            </a:pPr>
            <a:endParaRPr lang="en-US" sz="1800" dirty="0">
              <a:latin typeface="Cambria" panose="02040503050406030204" pitchFamily="18" charset="0"/>
              <a:ea typeface="Cambria" panose="02040503050406030204" pitchFamily="18" charset="0"/>
            </a:endParaRPr>
          </a:p>
          <a:p>
            <a:pPr marL="166688" indent="0" algn="just">
              <a:lnSpc>
                <a:spcPct val="100000"/>
              </a:lnSpc>
              <a:spcBef>
                <a:spcPts val="600"/>
              </a:spcBef>
              <a:buNone/>
            </a:pPr>
            <a:endParaRPr lang="en-US" sz="1800" dirty="0">
              <a:latin typeface="Cambria" panose="02040503050406030204" pitchFamily="18" charset="0"/>
              <a:ea typeface="Cambria" panose="02040503050406030204" pitchFamily="18" charset="0"/>
            </a:endParaRPr>
          </a:p>
          <a:p>
            <a:pPr marL="166688" indent="0" algn="just">
              <a:lnSpc>
                <a:spcPct val="100000"/>
              </a:lnSpc>
              <a:spcBef>
                <a:spcPts val="600"/>
              </a:spcBef>
              <a:buNone/>
            </a:pPr>
            <a:endParaRPr lang="en-US" sz="1800" dirty="0">
              <a:latin typeface="Cambria" panose="02040503050406030204" pitchFamily="18" charset="0"/>
              <a:ea typeface="Cambria" panose="02040503050406030204" pitchFamily="18" charset="0"/>
            </a:endParaRPr>
          </a:p>
          <a:p>
            <a:pPr marL="395288" algn="just">
              <a:lnSpc>
                <a:spcPct val="100000"/>
              </a:lnSpc>
              <a:spcBef>
                <a:spcPts val="600"/>
              </a:spcBef>
            </a:pPr>
            <a:endParaRPr lang="en-US" sz="1800" dirty="0">
              <a:latin typeface="Cambria" panose="02040503050406030204" pitchFamily="18" charset="0"/>
              <a:ea typeface="Cambria" panose="02040503050406030204" pitchFamily="18" charset="0"/>
            </a:endParaRPr>
          </a:p>
          <a:p>
            <a:pPr marL="395288" algn="just">
              <a:lnSpc>
                <a:spcPct val="100000"/>
              </a:lnSpc>
              <a:spcBef>
                <a:spcPts val="600"/>
              </a:spcBef>
            </a:pPr>
            <a:endParaRPr lang="en-US" sz="1800" dirty="0">
              <a:latin typeface="Cambria" panose="02040503050406030204" pitchFamily="18" charset="0"/>
              <a:ea typeface="Cambria" panose="02040503050406030204" pitchFamily="18" charset="0"/>
            </a:endParaRPr>
          </a:p>
          <a:p>
            <a:pPr marL="395288" algn="just">
              <a:lnSpc>
                <a:spcPct val="100000"/>
              </a:lnSpc>
              <a:spcBef>
                <a:spcPts val="600"/>
              </a:spcBef>
            </a:pPr>
            <a:endParaRPr lang="en-US" sz="1800" dirty="0">
              <a:latin typeface="Cambria" panose="02040503050406030204" pitchFamily="18" charset="0"/>
              <a:ea typeface="Cambria" panose="02040503050406030204" pitchFamily="18" charset="0"/>
            </a:endParaRPr>
          </a:p>
          <a:p>
            <a:pPr marL="395288" algn="just">
              <a:lnSpc>
                <a:spcPct val="100000"/>
              </a:lnSpc>
              <a:spcBef>
                <a:spcPts val="600"/>
              </a:spcBef>
            </a:pPr>
            <a:endParaRPr lang="en-US" sz="1600" dirty="0">
              <a:latin typeface="Cambria" panose="02040503050406030204" pitchFamily="18" charset="0"/>
              <a:ea typeface="Cambria" panose="02040503050406030204" pitchFamily="18" charset="0"/>
            </a:endParaRPr>
          </a:p>
          <a:p>
            <a:pPr marL="0" indent="0" algn="just">
              <a:lnSpc>
                <a:spcPct val="100000"/>
              </a:lnSpc>
              <a:spcBef>
                <a:spcPts val="600"/>
              </a:spcBef>
              <a:buNone/>
            </a:pPr>
            <a:endParaRPr lang="en-US" sz="16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Date Placeholder 4">
            <a:extLst>
              <a:ext uri="{FF2B5EF4-FFF2-40B4-BE49-F238E27FC236}">
                <a16:creationId xmlns:a16="http://schemas.microsoft.com/office/drawing/2014/main" id="{11F3BDC0-E8F6-4452-8C1D-9BB2EF43CA27}"/>
              </a:ext>
            </a:extLst>
          </p:cNvPr>
          <p:cNvSpPr>
            <a:spLocks noGrp="1"/>
          </p:cNvSpPr>
          <p:nvPr>
            <p:ph type="dt" sz="half" idx="10"/>
          </p:nvPr>
        </p:nvSpPr>
        <p:spPr/>
        <p:txBody>
          <a:bodyPr/>
          <a:lstStyle/>
          <a:p>
            <a:fld id="{1D28022A-D736-4EB2-8759-6E443020F7E7}" type="datetime1">
              <a:rPr lang="en-US" smtClean="0"/>
              <a:t>4/30/2020</a:t>
            </a:fld>
            <a:endParaRPr lang="en-US"/>
          </a:p>
        </p:txBody>
      </p:sp>
      <p:sp>
        <p:nvSpPr>
          <p:cNvPr id="7" name="Slide Number Placeholder 6">
            <a:extLst>
              <a:ext uri="{FF2B5EF4-FFF2-40B4-BE49-F238E27FC236}">
                <a16:creationId xmlns:a16="http://schemas.microsoft.com/office/drawing/2014/main" id="{6B160472-6CD0-41BD-A186-F38448069BC1}"/>
              </a:ext>
            </a:extLst>
          </p:cNvPr>
          <p:cNvSpPr>
            <a:spLocks noGrp="1"/>
          </p:cNvSpPr>
          <p:nvPr>
            <p:ph type="sldNum" sz="quarter" idx="12"/>
          </p:nvPr>
        </p:nvSpPr>
        <p:spPr/>
        <p:txBody>
          <a:bodyPr/>
          <a:lstStyle/>
          <a:p>
            <a:fld id="{4AA01191-0D54-4503-942B-A80E3AB8E296}" type="slidenum">
              <a:rPr lang="en-US" smtClean="0"/>
              <a:t>10</a:t>
            </a:fld>
            <a:endParaRPr lang="en-US"/>
          </a:p>
        </p:txBody>
      </p:sp>
    </p:spTree>
    <p:extLst>
      <p:ext uri="{BB962C8B-B14F-4D97-AF65-F5344CB8AC3E}">
        <p14:creationId xmlns:p14="http://schemas.microsoft.com/office/powerpoint/2010/main" val="1095894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p:txBody>
          <a:bodyPr>
            <a:normAutofit/>
          </a:bodyPr>
          <a:lstStyle/>
          <a:p>
            <a:pPr marL="344488" indent="0">
              <a:buNone/>
            </a:pPr>
            <a:r>
              <a:rPr lang="en-US" sz="2000" dirty="0">
                <a:latin typeface="Cambria" panose="02040503050406030204" pitchFamily="18" charset="0"/>
                <a:ea typeface="Cambria" panose="02040503050406030204" pitchFamily="18" charset="0"/>
              </a:rPr>
              <a:t>Some examples of internal fraud are:</a:t>
            </a:r>
          </a:p>
          <a:p>
            <a:pPr marL="573088"/>
            <a:r>
              <a:rPr lang="en-US" sz="2000" dirty="0">
                <a:latin typeface="Cambria" panose="02040503050406030204" pitchFamily="18" charset="0"/>
                <a:ea typeface="Cambria" panose="02040503050406030204" pitchFamily="18" charset="0"/>
              </a:rPr>
              <a:t>Kickback</a:t>
            </a:r>
          </a:p>
          <a:p>
            <a:pPr marL="573088"/>
            <a:r>
              <a:rPr lang="en-US" sz="2000" dirty="0">
                <a:latin typeface="Cambria" panose="02040503050406030204" pitchFamily="18" charset="0"/>
                <a:ea typeface="Cambria" panose="02040503050406030204" pitchFamily="18" charset="0"/>
              </a:rPr>
              <a:t>Expense claim frauds</a:t>
            </a:r>
          </a:p>
          <a:p>
            <a:pPr marL="573088"/>
            <a:r>
              <a:rPr lang="en-US" sz="2000" dirty="0">
                <a:latin typeface="Cambria" panose="02040503050406030204" pitchFamily="18" charset="0"/>
                <a:ea typeface="Cambria" panose="02040503050406030204" pitchFamily="18" charset="0"/>
              </a:rPr>
              <a:t>Frauds pertaining to documents of the Company</a:t>
            </a:r>
          </a:p>
          <a:p>
            <a:pPr marL="573088"/>
            <a:r>
              <a:rPr lang="en-US" sz="2000" dirty="0">
                <a:latin typeface="Cambria" panose="02040503050406030204" pitchFamily="18" charset="0"/>
                <a:ea typeface="Cambria" panose="02040503050406030204" pitchFamily="18" charset="0"/>
              </a:rPr>
              <a:t>Loss of intellectual property</a:t>
            </a:r>
          </a:p>
          <a:p>
            <a:pPr marL="573088"/>
            <a:r>
              <a:rPr lang="en-US" sz="2000" dirty="0">
                <a:latin typeface="Cambria" panose="02040503050406030204" pitchFamily="18" charset="0"/>
                <a:ea typeface="Cambria" panose="02040503050406030204" pitchFamily="18" charset="0"/>
              </a:rPr>
              <a:t>Frauds pertaining to assets</a:t>
            </a:r>
          </a:p>
          <a:p>
            <a:pPr marL="573088"/>
            <a:r>
              <a:rPr lang="en-US" sz="2000" dirty="0">
                <a:latin typeface="Cambria" panose="02040503050406030204" pitchFamily="18" charset="0"/>
                <a:ea typeface="Cambria" panose="02040503050406030204" pitchFamily="18" charset="0"/>
              </a:rPr>
              <a:t>Fraudulent financial reporting</a:t>
            </a:r>
          </a:p>
          <a:p>
            <a:pPr marL="573088"/>
            <a:r>
              <a:rPr lang="en-US" sz="2000" dirty="0">
                <a:latin typeface="Cambria" panose="02040503050406030204" pitchFamily="18" charset="0"/>
                <a:ea typeface="Cambria" panose="02040503050406030204" pitchFamily="18" charset="0"/>
              </a:rPr>
              <a:t>Embezzlement</a:t>
            </a: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Title 1">
            <a:extLst>
              <a:ext uri="{FF2B5EF4-FFF2-40B4-BE49-F238E27FC236}">
                <a16:creationId xmlns:a16="http://schemas.microsoft.com/office/drawing/2014/main" id="{82E1FA84-2511-4302-BA46-992A5DCE94A4}"/>
              </a:ext>
            </a:extLst>
          </p:cNvPr>
          <p:cNvSpPr>
            <a:spLocks noGrp="1"/>
          </p:cNvSpPr>
          <p:nvPr>
            <p:ph type="title"/>
          </p:nvPr>
        </p:nvSpPr>
        <p:spPr>
          <a:xfrm>
            <a:off x="838200" y="365126"/>
            <a:ext cx="10515600" cy="1069780"/>
          </a:xfrm>
        </p:spPr>
        <p:txBody>
          <a:bodyPr>
            <a:normAutofit/>
          </a:bodyPr>
          <a:lstStyle/>
          <a:p>
            <a:pPr algn="ctr"/>
            <a:r>
              <a:rPr lang="en-US" sz="2800" u="sng" dirty="0">
                <a:latin typeface="Cambria" panose="02040503050406030204" pitchFamily="18" charset="0"/>
                <a:ea typeface="Cambria" panose="02040503050406030204" pitchFamily="18" charset="0"/>
              </a:rPr>
              <a:t>Internal Fraud</a:t>
            </a:r>
          </a:p>
        </p:txBody>
      </p:sp>
      <p:sp>
        <p:nvSpPr>
          <p:cNvPr id="2" name="Date Placeholder 1">
            <a:extLst>
              <a:ext uri="{FF2B5EF4-FFF2-40B4-BE49-F238E27FC236}">
                <a16:creationId xmlns:a16="http://schemas.microsoft.com/office/drawing/2014/main" id="{510BB5D9-BF1A-4075-84CB-216232B0349E}"/>
              </a:ext>
            </a:extLst>
          </p:cNvPr>
          <p:cNvSpPr>
            <a:spLocks noGrp="1"/>
          </p:cNvSpPr>
          <p:nvPr>
            <p:ph type="dt" sz="half" idx="10"/>
          </p:nvPr>
        </p:nvSpPr>
        <p:spPr/>
        <p:txBody>
          <a:bodyPr/>
          <a:lstStyle/>
          <a:p>
            <a:fld id="{DAF72DC5-333E-4530-A45B-96B7CC10C48D}" type="datetime1">
              <a:rPr lang="en-US" smtClean="0"/>
              <a:t>4/30/2020</a:t>
            </a:fld>
            <a:endParaRPr lang="en-US"/>
          </a:p>
        </p:txBody>
      </p:sp>
      <p:sp>
        <p:nvSpPr>
          <p:cNvPr id="7" name="Slide Number Placeholder 6">
            <a:extLst>
              <a:ext uri="{FF2B5EF4-FFF2-40B4-BE49-F238E27FC236}">
                <a16:creationId xmlns:a16="http://schemas.microsoft.com/office/drawing/2014/main" id="{58DA4567-DCF6-41B5-B55D-54995A2119CC}"/>
              </a:ext>
            </a:extLst>
          </p:cNvPr>
          <p:cNvSpPr>
            <a:spLocks noGrp="1"/>
          </p:cNvSpPr>
          <p:nvPr>
            <p:ph type="sldNum" sz="quarter" idx="12"/>
          </p:nvPr>
        </p:nvSpPr>
        <p:spPr/>
        <p:txBody>
          <a:bodyPr/>
          <a:lstStyle/>
          <a:p>
            <a:fld id="{4AA01191-0D54-4503-942B-A80E3AB8E296}" type="slidenum">
              <a:rPr lang="en-US" smtClean="0"/>
              <a:t>11</a:t>
            </a:fld>
            <a:endParaRPr lang="en-US"/>
          </a:p>
        </p:txBody>
      </p:sp>
    </p:spTree>
    <p:extLst>
      <p:ext uri="{BB962C8B-B14F-4D97-AF65-F5344CB8AC3E}">
        <p14:creationId xmlns:p14="http://schemas.microsoft.com/office/powerpoint/2010/main" val="2185350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a:xfrm>
            <a:off x="838200" y="1678675"/>
            <a:ext cx="10515600" cy="4498288"/>
          </a:xfrm>
        </p:spPr>
        <p:txBody>
          <a:bodyPr>
            <a:normAutofit/>
          </a:bodyPr>
          <a:lstStyle/>
          <a:p>
            <a:pPr marL="395288" indent="-163513" algn="just">
              <a:lnSpc>
                <a:spcPct val="100000"/>
              </a:lnSpc>
              <a:spcBef>
                <a:spcPts val="600"/>
              </a:spcBef>
            </a:pPr>
            <a:endParaRPr lang="en-US" sz="1800" dirty="0">
              <a:latin typeface="Cambria" panose="02040503050406030204" pitchFamily="18" charset="0"/>
              <a:ea typeface="Cambria" panose="02040503050406030204" pitchFamily="18" charset="0"/>
            </a:endParaRPr>
          </a:p>
          <a:p>
            <a:pPr marL="231775" indent="0" algn="just">
              <a:lnSpc>
                <a:spcPct val="100000"/>
              </a:lnSpc>
              <a:spcBef>
                <a:spcPts val="600"/>
              </a:spcBef>
              <a:buNone/>
            </a:pPr>
            <a:endParaRPr lang="en-US" sz="18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8" name="Content Placeholder 2">
            <a:extLst>
              <a:ext uri="{FF2B5EF4-FFF2-40B4-BE49-F238E27FC236}">
                <a16:creationId xmlns:a16="http://schemas.microsoft.com/office/drawing/2014/main" id="{A5EADB0A-DBAB-45EA-B983-B0D1C1DC5BF4}"/>
              </a:ext>
            </a:extLst>
          </p:cNvPr>
          <p:cNvSpPr txBox="1">
            <a:spLocks/>
          </p:cNvSpPr>
          <p:nvPr/>
        </p:nvSpPr>
        <p:spPr>
          <a:xfrm>
            <a:off x="1133621" y="1684948"/>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8138" indent="-285750">
              <a:spcBef>
                <a:spcPts val="600"/>
              </a:spcBef>
              <a:buFont typeface="Wingdings" panose="05000000000000000000" pitchFamily="2" charset="2"/>
              <a:buChar char="Ø"/>
            </a:pPr>
            <a:r>
              <a:rPr lang="en-US" sz="1600" u="sng" dirty="0">
                <a:latin typeface="Cambria" panose="02040503050406030204" pitchFamily="18" charset="0"/>
                <a:ea typeface="Cambria" panose="02040503050406030204" pitchFamily="18" charset="0"/>
              </a:rPr>
              <a:t>Kickbacks</a:t>
            </a:r>
          </a:p>
          <a:p>
            <a:pPr marL="577850" indent="-285750">
              <a:lnSpc>
                <a:spcPct val="100000"/>
              </a:lnSpc>
              <a:spcBef>
                <a:spcPts val="600"/>
              </a:spcBef>
            </a:pPr>
            <a:r>
              <a:rPr lang="en-US" sz="1500" dirty="0">
                <a:latin typeface="Cambria" panose="02040503050406030204" pitchFamily="18" charset="0"/>
                <a:ea typeface="Cambria" panose="02040503050406030204" pitchFamily="18" charset="0"/>
              </a:rPr>
              <a:t>Permitting special prices or privileges to customers, or granting business to </a:t>
            </a:r>
            <a:r>
              <a:rPr lang="en-US" sz="1500" dirty="0" err="1">
                <a:latin typeface="Cambria" panose="02040503050406030204" pitchFamily="18" charset="0"/>
                <a:ea typeface="Cambria" panose="02040503050406030204" pitchFamily="18" charset="0"/>
              </a:rPr>
              <a:t>favoured</a:t>
            </a:r>
            <a:r>
              <a:rPr lang="en-US" sz="1500" dirty="0">
                <a:latin typeface="Cambria" panose="02040503050406030204" pitchFamily="18" charset="0"/>
                <a:ea typeface="Cambria" panose="02040503050406030204" pitchFamily="18" charset="0"/>
              </a:rPr>
              <a:t> suppliers for benefits; </a:t>
            </a:r>
          </a:p>
          <a:p>
            <a:pPr marL="577850" indent="-285750" algn="just">
              <a:lnSpc>
                <a:spcPct val="100000"/>
              </a:lnSpc>
              <a:spcBef>
                <a:spcPts val="600"/>
              </a:spcBef>
            </a:pPr>
            <a:r>
              <a:rPr lang="en-US" sz="1500" dirty="0">
                <a:latin typeface="Cambria" panose="02040503050406030204" pitchFamily="18" charset="0"/>
                <a:ea typeface="Cambria" panose="02040503050406030204" pitchFamily="18" charset="0"/>
              </a:rPr>
              <a:t>Receipt of excessive gifts or accepting or seeking anything of material value from vendors/DSAs/channel partners or persons providing services/materials to the Company.</a:t>
            </a:r>
          </a:p>
          <a:p>
            <a:pPr marL="292100" indent="0">
              <a:lnSpc>
                <a:spcPct val="100000"/>
              </a:lnSpc>
              <a:spcBef>
                <a:spcPts val="0"/>
              </a:spcBef>
              <a:buNone/>
            </a:pPr>
            <a:endParaRPr lang="en-US" sz="600" dirty="0">
              <a:latin typeface="Cambria" panose="02040503050406030204" pitchFamily="18" charset="0"/>
              <a:ea typeface="Cambria" panose="02040503050406030204" pitchFamily="18" charset="0"/>
            </a:endParaRPr>
          </a:p>
          <a:p>
            <a:pPr marL="338138" indent="-285750">
              <a:spcBef>
                <a:spcPts val="600"/>
              </a:spcBef>
              <a:buFont typeface="Wingdings" panose="05000000000000000000" pitchFamily="2" charset="2"/>
              <a:buChar char="Ø"/>
            </a:pPr>
            <a:r>
              <a:rPr lang="en-US" sz="1600" u="sng" dirty="0">
                <a:latin typeface="Cambria" panose="02040503050406030204" pitchFamily="18" charset="0"/>
                <a:ea typeface="Cambria" panose="02040503050406030204" pitchFamily="18" charset="0"/>
              </a:rPr>
              <a:t>Expense claim frauds</a:t>
            </a:r>
          </a:p>
          <a:p>
            <a:pPr marL="573088" indent="-234950" algn="just">
              <a:lnSpc>
                <a:spcPct val="100000"/>
              </a:lnSpc>
              <a:spcBef>
                <a:spcPts val="600"/>
              </a:spcBef>
            </a:pPr>
            <a:r>
              <a:rPr lang="en-US" sz="1500" dirty="0">
                <a:latin typeface="Cambria" panose="02040503050406030204" pitchFamily="18" charset="0"/>
                <a:ea typeface="Cambria" panose="02040503050406030204" pitchFamily="18" charset="0"/>
              </a:rPr>
              <a:t>Inflated or bogus travel, employee reimbursement and other expense claims; </a:t>
            </a:r>
          </a:p>
          <a:p>
            <a:pPr marL="573088" indent="-234950" algn="just">
              <a:lnSpc>
                <a:spcPct val="100000"/>
              </a:lnSpc>
              <a:spcBef>
                <a:spcPts val="600"/>
              </a:spcBef>
            </a:pPr>
            <a:r>
              <a:rPr lang="en-US" sz="1500" dirty="0">
                <a:latin typeface="Cambria" panose="02040503050406030204" pitchFamily="18" charset="0"/>
                <a:ea typeface="Cambria" panose="02040503050406030204" pitchFamily="18" charset="0"/>
              </a:rPr>
              <a:t>claims for services or goods not actually availed; </a:t>
            </a:r>
          </a:p>
          <a:p>
            <a:pPr marL="573088" indent="-234950" algn="just">
              <a:lnSpc>
                <a:spcPct val="100000"/>
              </a:lnSpc>
              <a:spcBef>
                <a:spcPts val="600"/>
              </a:spcBef>
            </a:pPr>
            <a:r>
              <a:rPr lang="en-US" sz="1500" dirty="0">
                <a:latin typeface="Cambria" panose="02040503050406030204" pitchFamily="18" charset="0"/>
                <a:ea typeface="Cambria" panose="02040503050406030204" pitchFamily="18" charset="0"/>
              </a:rPr>
              <a:t>paying false (or inflated) invoices, either self-prepared or obtained through collusion with suppliers.</a:t>
            </a:r>
          </a:p>
          <a:p>
            <a:pPr marL="338138" indent="0" algn="just">
              <a:lnSpc>
                <a:spcPct val="100000"/>
              </a:lnSpc>
              <a:spcBef>
                <a:spcPts val="0"/>
              </a:spcBef>
              <a:buNone/>
            </a:pPr>
            <a:endParaRPr lang="en-US" sz="600" dirty="0">
              <a:latin typeface="Cambria" panose="02040503050406030204" pitchFamily="18" charset="0"/>
              <a:ea typeface="Cambria" panose="02040503050406030204" pitchFamily="18" charset="0"/>
            </a:endParaRPr>
          </a:p>
          <a:p>
            <a:pPr marL="338138" indent="-285750">
              <a:spcBef>
                <a:spcPts val="600"/>
              </a:spcBef>
              <a:buFont typeface="Wingdings" panose="05000000000000000000" pitchFamily="2" charset="2"/>
              <a:buChar char="Ø"/>
            </a:pPr>
            <a:r>
              <a:rPr lang="en-US" sz="1600" u="sng" dirty="0">
                <a:latin typeface="Cambria" panose="02040503050406030204" pitchFamily="18" charset="0"/>
                <a:ea typeface="Cambria" panose="02040503050406030204" pitchFamily="18" charset="0"/>
              </a:rPr>
              <a:t>Frauds pertaining to documents of the Company</a:t>
            </a:r>
          </a:p>
          <a:p>
            <a:pPr marL="577850" indent="-285750" algn="just">
              <a:lnSpc>
                <a:spcPct val="100000"/>
              </a:lnSpc>
              <a:spcBef>
                <a:spcPts val="600"/>
              </a:spcBef>
            </a:pPr>
            <a:r>
              <a:rPr lang="en-US" sz="1500" dirty="0">
                <a:latin typeface="Cambria" panose="02040503050406030204" pitchFamily="18" charset="0"/>
                <a:ea typeface="Cambria" panose="02040503050406030204" pitchFamily="18" charset="0"/>
              </a:rPr>
              <a:t>Forging or altering documents or accounts belonging to the company; </a:t>
            </a:r>
          </a:p>
          <a:p>
            <a:pPr marL="577850" indent="-285750" algn="just">
              <a:lnSpc>
                <a:spcPct val="100000"/>
              </a:lnSpc>
              <a:spcBef>
                <a:spcPts val="600"/>
              </a:spcBef>
            </a:pPr>
            <a:r>
              <a:rPr lang="en-US" sz="1500" dirty="0">
                <a:latin typeface="Cambria" panose="02040503050406030204" pitchFamily="18" charset="0"/>
                <a:ea typeface="Cambria" panose="02040503050406030204" pitchFamily="18" charset="0"/>
              </a:rPr>
              <a:t>Forging or altering of any document relating to loan such as sanction letter, loan documents, mortgage documents etc..</a:t>
            </a:r>
          </a:p>
          <a:p>
            <a:pPr marL="577850" indent="-285750" algn="just">
              <a:lnSpc>
                <a:spcPct val="100000"/>
              </a:lnSpc>
              <a:spcBef>
                <a:spcPts val="600"/>
              </a:spcBef>
            </a:pPr>
            <a:r>
              <a:rPr lang="en-US" sz="1500" dirty="0">
                <a:latin typeface="Cambria" panose="02040503050406030204" pitchFamily="18" charset="0"/>
                <a:ea typeface="Cambria" panose="02040503050406030204" pitchFamily="18" charset="0"/>
              </a:rPr>
              <a:t>Forging of alteration of cheques, bank drafts or any other financial instrument; </a:t>
            </a:r>
          </a:p>
          <a:p>
            <a:pPr marL="577850" indent="-285750" algn="just">
              <a:lnSpc>
                <a:spcPct val="100000"/>
              </a:lnSpc>
              <a:spcBef>
                <a:spcPts val="600"/>
              </a:spcBef>
            </a:pPr>
            <a:r>
              <a:rPr lang="en-US" sz="1500" dirty="0">
                <a:latin typeface="Cambria" panose="02040503050406030204" pitchFamily="18" charset="0"/>
                <a:ea typeface="Cambria" panose="02040503050406030204" pitchFamily="18" charset="0"/>
              </a:rPr>
              <a:t>Forging or altering any document further resulting in financial losses etc..</a:t>
            </a:r>
          </a:p>
          <a:p>
            <a:pPr marL="577850" indent="-285750" algn="just">
              <a:lnSpc>
                <a:spcPct val="100000"/>
              </a:lnSpc>
              <a:spcBef>
                <a:spcPts val="600"/>
              </a:spcBef>
            </a:pPr>
            <a:r>
              <a:rPr lang="en-US" sz="1500" dirty="0">
                <a:latin typeface="Cambria" panose="02040503050406030204" pitchFamily="18" charset="0"/>
                <a:ea typeface="Cambria" panose="02040503050406030204" pitchFamily="18" charset="0"/>
              </a:rPr>
              <a:t>Mis-using letterheads of the company.</a:t>
            </a:r>
          </a:p>
        </p:txBody>
      </p:sp>
      <p:sp>
        <p:nvSpPr>
          <p:cNvPr id="2" name="Date Placeholder 1">
            <a:extLst>
              <a:ext uri="{FF2B5EF4-FFF2-40B4-BE49-F238E27FC236}">
                <a16:creationId xmlns:a16="http://schemas.microsoft.com/office/drawing/2014/main" id="{59E75E4F-F07A-42FE-B9C2-D914D4E09CA2}"/>
              </a:ext>
            </a:extLst>
          </p:cNvPr>
          <p:cNvSpPr>
            <a:spLocks noGrp="1"/>
          </p:cNvSpPr>
          <p:nvPr>
            <p:ph type="dt" sz="half" idx="10"/>
          </p:nvPr>
        </p:nvSpPr>
        <p:spPr/>
        <p:txBody>
          <a:bodyPr/>
          <a:lstStyle/>
          <a:p>
            <a:fld id="{8C52A280-77C3-4E9C-9CD8-8ADF556179D3}" type="datetime1">
              <a:rPr lang="en-US" smtClean="0">
                <a:latin typeface="Cambria" panose="02040503050406030204" pitchFamily="18" charset="0"/>
                <a:ea typeface="Cambria" panose="02040503050406030204" pitchFamily="18" charset="0"/>
              </a:rPr>
              <a:t>4/30/2020</a:t>
            </a:fld>
            <a:endParaRPr lang="en-US" dirty="0">
              <a:latin typeface="Cambria" panose="02040503050406030204" pitchFamily="18" charset="0"/>
              <a:ea typeface="Cambria" panose="02040503050406030204" pitchFamily="18" charset="0"/>
            </a:endParaRPr>
          </a:p>
        </p:txBody>
      </p:sp>
      <p:sp>
        <p:nvSpPr>
          <p:cNvPr id="5" name="Slide Number Placeholder 4">
            <a:extLst>
              <a:ext uri="{FF2B5EF4-FFF2-40B4-BE49-F238E27FC236}">
                <a16:creationId xmlns:a16="http://schemas.microsoft.com/office/drawing/2014/main" id="{A7FF60E8-0719-4B9C-9288-9027EC64979B}"/>
              </a:ext>
            </a:extLst>
          </p:cNvPr>
          <p:cNvSpPr>
            <a:spLocks noGrp="1"/>
          </p:cNvSpPr>
          <p:nvPr>
            <p:ph type="sldNum" sz="quarter" idx="12"/>
          </p:nvPr>
        </p:nvSpPr>
        <p:spPr/>
        <p:txBody>
          <a:bodyPr/>
          <a:lstStyle/>
          <a:p>
            <a:fld id="{4AA01191-0D54-4503-942B-A80E3AB8E296}" type="slidenum">
              <a:rPr lang="en-US" smtClean="0">
                <a:latin typeface="Cambria" panose="02040503050406030204" pitchFamily="18" charset="0"/>
                <a:ea typeface="Cambria" panose="02040503050406030204" pitchFamily="18" charset="0"/>
              </a:rPr>
              <a:t>12</a:t>
            </a:fld>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00920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a:xfrm>
            <a:off x="908539" y="1509863"/>
            <a:ext cx="10515600" cy="4498288"/>
          </a:xfrm>
        </p:spPr>
        <p:txBody>
          <a:bodyPr>
            <a:normAutofit/>
          </a:bodyPr>
          <a:lstStyle/>
          <a:p>
            <a:pPr marL="395288" indent="-163513" algn="just">
              <a:lnSpc>
                <a:spcPct val="100000"/>
              </a:lnSpc>
              <a:spcBef>
                <a:spcPts val="600"/>
              </a:spcBef>
            </a:pPr>
            <a:endParaRPr lang="en-US" sz="1800" dirty="0">
              <a:latin typeface="Cambria" panose="02040503050406030204" pitchFamily="18" charset="0"/>
              <a:ea typeface="Cambria" panose="02040503050406030204" pitchFamily="18" charset="0"/>
            </a:endParaRPr>
          </a:p>
          <a:p>
            <a:pPr marL="231775" indent="0" algn="just">
              <a:lnSpc>
                <a:spcPct val="100000"/>
              </a:lnSpc>
              <a:spcBef>
                <a:spcPts val="600"/>
              </a:spcBef>
              <a:buNone/>
            </a:pPr>
            <a:r>
              <a:rPr lang="en-US" sz="1800" dirty="0">
                <a:latin typeface="Cambria" panose="02040503050406030204" pitchFamily="18" charset="0"/>
                <a:ea typeface="Cambria" panose="02040503050406030204" pitchFamily="18" charset="0"/>
              </a:rPr>
              <a:t>	</a:t>
            </a: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8" name="Content Placeholder 2">
            <a:extLst>
              <a:ext uri="{FF2B5EF4-FFF2-40B4-BE49-F238E27FC236}">
                <a16:creationId xmlns:a16="http://schemas.microsoft.com/office/drawing/2014/main" id="{A5EADB0A-DBAB-45EA-B983-B0D1C1DC5BF4}"/>
              </a:ext>
            </a:extLst>
          </p:cNvPr>
          <p:cNvSpPr txBox="1">
            <a:spLocks/>
          </p:cNvSpPr>
          <p:nvPr/>
        </p:nvSpPr>
        <p:spPr>
          <a:xfrm>
            <a:off x="1133621" y="1091821"/>
            <a:ext cx="10515600" cy="494446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8138" indent="-285750">
              <a:lnSpc>
                <a:spcPct val="100000"/>
              </a:lnSpc>
              <a:spcBef>
                <a:spcPts val="600"/>
              </a:spcBef>
              <a:buFont typeface="Wingdings" panose="05000000000000000000" pitchFamily="2" charset="2"/>
              <a:buChar char="Ø"/>
            </a:pPr>
            <a:r>
              <a:rPr lang="en-US" sz="2300" u="sng" dirty="0">
                <a:latin typeface="Cambria" panose="02040503050406030204" pitchFamily="18" charset="0"/>
                <a:ea typeface="Cambria" panose="02040503050406030204" pitchFamily="18" charset="0"/>
              </a:rPr>
              <a:t>Disclosing Confidential Information</a:t>
            </a:r>
          </a:p>
          <a:p>
            <a:pPr marL="338138" indent="-285750">
              <a:lnSpc>
                <a:spcPct val="100000"/>
              </a:lnSpc>
              <a:spcBef>
                <a:spcPts val="600"/>
              </a:spcBef>
              <a:buFont typeface="Wingdings" panose="05000000000000000000" pitchFamily="2" charset="2"/>
              <a:buChar char="Ø"/>
            </a:pPr>
            <a:endParaRPr lang="en-US" sz="900" u="sng" dirty="0">
              <a:latin typeface="Cambria" panose="02040503050406030204" pitchFamily="18" charset="0"/>
              <a:ea typeface="Cambria" panose="02040503050406030204" pitchFamily="18" charset="0"/>
            </a:endParaRPr>
          </a:p>
          <a:p>
            <a:pPr marL="623888" lvl="1" indent="-285750" algn="just">
              <a:lnSpc>
                <a:spcPct val="100000"/>
              </a:lnSpc>
              <a:spcBef>
                <a:spcPts val="600"/>
              </a:spcBef>
            </a:pPr>
            <a:r>
              <a:rPr lang="en-US" sz="2200" dirty="0">
                <a:latin typeface="Cambria" panose="02040503050406030204" pitchFamily="18" charset="0"/>
                <a:ea typeface="Cambria" panose="02040503050406030204" pitchFamily="18" charset="0"/>
              </a:rPr>
              <a:t>Disclosing confidential and proprietary information or business activities of the company to an outsider or competitor; </a:t>
            </a:r>
          </a:p>
          <a:p>
            <a:pPr marL="623888" lvl="1" indent="-285750" algn="just">
              <a:lnSpc>
                <a:spcPct val="100000"/>
              </a:lnSpc>
              <a:spcBef>
                <a:spcPts val="600"/>
              </a:spcBef>
            </a:pPr>
            <a:r>
              <a:rPr lang="en-US" sz="2200" dirty="0">
                <a:latin typeface="Cambria" panose="02040503050406030204" pitchFamily="18" charset="0"/>
                <a:ea typeface="Cambria" panose="02040503050406030204" pitchFamily="18" charset="0"/>
              </a:rPr>
              <a:t>Unauthorized or illegal use of confidential information (e.g. taking advantage for personal gains as a result of insider knowledge of company activities);</a:t>
            </a:r>
          </a:p>
          <a:p>
            <a:pPr marL="623888" lvl="1" indent="-285750" algn="just">
              <a:lnSpc>
                <a:spcPct val="100000"/>
              </a:lnSpc>
              <a:spcBef>
                <a:spcPts val="600"/>
              </a:spcBef>
            </a:pPr>
            <a:r>
              <a:rPr lang="en-US" sz="2200" dirty="0">
                <a:latin typeface="Cambria" panose="02040503050406030204" pitchFamily="18" charset="0"/>
                <a:ea typeface="Cambria" panose="02040503050406030204" pitchFamily="18" charset="0"/>
              </a:rPr>
              <a:t>Disclosing business tactics, product policy to an outsider or competitor; </a:t>
            </a:r>
          </a:p>
          <a:p>
            <a:pPr marL="338138" lvl="1" indent="0" algn="just">
              <a:lnSpc>
                <a:spcPct val="100000"/>
              </a:lnSpc>
              <a:spcBef>
                <a:spcPts val="600"/>
              </a:spcBef>
              <a:buNone/>
            </a:pPr>
            <a:endParaRPr lang="en-US" sz="900" dirty="0">
              <a:latin typeface="Cambria" panose="02040503050406030204" pitchFamily="18" charset="0"/>
              <a:ea typeface="Cambria" panose="02040503050406030204" pitchFamily="18" charset="0"/>
            </a:endParaRPr>
          </a:p>
          <a:p>
            <a:pPr marL="338138" indent="-285750">
              <a:lnSpc>
                <a:spcPct val="100000"/>
              </a:lnSpc>
              <a:spcBef>
                <a:spcPts val="600"/>
              </a:spcBef>
              <a:buFont typeface="Wingdings" panose="05000000000000000000" pitchFamily="2" charset="2"/>
              <a:buChar char="Ø"/>
            </a:pPr>
            <a:r>
              <a:rPr lang="en-US" sz="2300" u="sng" dirty="0">
                <a:latin typeface="Cambria" panose="02040503050406030204" pitchFamily="18" charset="0"/>
                <a:ea typeface="Cambria" panose="02040503050406030204" pitchFamily="18" charset="0"/>
              </a:rPr>
              <a:t>Asset Misappropriation Fraud</a:t>
            </a:r>
          </a:p>
          <a:p>
            <a:pPr marL="52388" indent="0">
              <a:lnSpc>
                <a:spcPct val="100000"/>
              </a:lnSpc>
              <a:spcBef>
                <a:spcPts val="600"/>
              </a:spcBef>
              <a:buNone/>
            </a:pPr>
            <a:endParaRPr lang="en-US" sz="900" u="sng" dirty="0">
              <a:latin typeface="Cambria" panose="02040503050406030204" pitchFamily="18" charset="0"/>
              <a:ea typeface="Cambria" panose="02040503050406030204" pitchFamily="18" charset="0"/>
            </a:endParaRPr>
          </a:p>
          <a:p>
            <a:pPr marL="338138" lvl="1" indent="0" algn="just">
              <a:lnSpc>
                <a:spcPct val="100000"/>
              </a:lnSpc>
              <a:spcBef>
                <a:spcPts val="600"/>
              </a:spcBef>
              <a:buNone/>
            </a:pPr>
            <a:r>
              <a:rPr lang="en-US" sz="2200" dirty="0">
                <a:latin typeface="Cambria" panose="02040503050406030204" pitchFamily="18" charset="0"/>
                <a:ea typeface="Cambria" panose="02040503050406030204" pitchFamily="18" charset="0"/>
              </a:rPr>
              <a:t>Company has given several assets such as laptops/PCs, phones etc. and equipped its offices with various furnitures and fixtures to enable its employees to perform their work smoothly. Destruction, removal or inappropriate use of such items tantamount to fraud.</a:t>
            </a:r>
          </a:p>
          <a:p>
            <a:pPr marL="623888" lvl="1" indent="-285750" algn="just">
              <a:lnSpc>
                <a:spcPct val="100000"/>
              </a:lnSpc>
              <a:spcBef>
                <a:spcPts val="600"/>
              </a:spcBef>
            </a:pPr>
            <a:r>
              <a:rPr lang="en-US" sz="2200" dirty="0">
                <a:latin typeface="Cambria" panose="02040503050406030204" pitchFamily="18" charset="0"/>
                <a:ea typeface="Cambria" panose="02040503050406030204" pitchFamily="18" charset="0"/>
              </a:rPr>
              <a:t>Theft or mis-use of assets given by Company</a:t>
            </a:r>
          </a:p>
          <a:p>
            <a:pPr marL="623888" lvl="1" indent="-285750" algn="just">
              <a:lnSpc>
                <a:spcPct val="100000"/>
              </a:lnSpc>
              <a:spcBef>
                <a:spcPts val="600"/>
              </a:spcBef>
            </a:pPr>
            <a:r>
              <a:rPr lang="en-US" sz="2200" dirty="0">
                <a:latin typeface="Cambria" panose="02040503050406030204" pitchFamily="18" charset="0"/>
                <a:ea typeface="Cambria" panose="02040503050406030204" pitchFamily="18" charset="0"/>
              </a:rPr>
              <a:t>Use of company’s assets for own use;</a:t>
            </a:r>
          </a:p>
          <a:p>
            <a:pPr marL="338138" lvl="1" indent="0" algn="just">
              <a:lnSpc>
                <a:spcPct val="100000"/>
              </a:lnSpc>
              <a:spcBef>
                <a:spcPts val="600"/>
              </a:spcBef>
              <a:buNone/>
            </a:pPr>
            <a:endParaRPr lang="en-US" sz="900" dirty="0">
              <a:latin typeface="Cambria" panose="02040503050406030204" pitchFamily="18" charset="0"/>
              <a:ea typeface="Cambria" panose="02040503050406030204" pitchFamily="18" charset="0"/>
            </a:endParaRPr>
          </a:p>
          <a:p>
            <a:pPr marL="338138" indent="-285750">
              <a:lnSpc>
                <a:spcPct val="100000"/>
              </a:lnSpc>
              <a:spcBef>
                <a:spcPts val="600"/>
              </a:spcBef>
              <a:buFont typeface="Wingdings" panose="05000000000000000000" pitchFamily="2" charset="2"/>
              <a:buChar char="Ø"/>
            </a:pPr>
            <a:r>
              <a:rPr lang="en-US" sz="2500" u="sng" dirty="0">
                <a:latin typeface="Cambria" panose="02040503050406030204" pitchFamily="18" charset="0"/>
                <a:ea typeface="Cambria" panose="02040503050406030204" pitchFamily="18" charset="0"/>
              </a:rPr>
              <a:t>Embezzlement</a:t>
            </a:r>
          </a:p>
          <a:p>
            <a:pPr marL="52388" indent="0">
              <a:lnSpc>
                <a:spcPct val="100000"/>
              </a:lnSpc>
              <a:spcBef>
                <a:spcPts val="600"/>
              </a:spcBef>
              <a:buNone/>
            </a:pPr>
            <a:endParaRPr lang="en-US" sz="900" u="sng" dirty="0">
              <a:latin typeface="Cambria" panose="02040503050406030204" pitchFamily="18" charset="0"/>
              <a:ea typeface="Cambria" panose="02040503050406030204" pitchFamily="18" charset="0"/>
            </a:endParaRPr>
          </a:p>
          <a:p>
            <a:pPr marL="623888" indent="-285750" algn="just">
              <a:lnSpc>
                <a:spcPct val="100000"/>
              </a:lnSpc>
              <a:spcBef>
                <a:spcPts val="600"/>
              </a:spcBef>
            </a:pPr>
            <a:r>
              <a:rPr lang="en-US" sz="2200" dirty="0">
                <a:latin typeface="Cambria" panose="02040503050406030204" pitchFamily="18" charset="0"/>
                <a:ea typeface="Cambria" panose="02040503050406030204" pitchFamily="18" charset="0"/>
              </a:rPr>
              <a:t>Misappropriation of company's money, security, supplies, property, or other assets; </a:t>
            </a:r>
          </a:p>
          <a:p>
            <a:pPr marL="623888" indent="-285750" algn="just">
              <a:lnSpc>
                <a:spcPct val="100000"/>
              </a:lnSpc>
              <a:spcBef>
                <a:spcPts val="600"/>
              </a:spcBef>
            </a:pPr>
            <a:r>
              <a:rPr lang="en-US" sz="2200" dirty="0">
                <a:latin typeface="Cambria" panose="02040503050406030204" pitchFamily="18" charset="0"/>
                <a:ea typeface="Cambria" panose="02040503050406030204" pitchFamily="18" charset="0"/>
              </a:rPr>
              <a:t>Utilizing company funds for personal purposes; </a:t>
            </a:r>
          </a:p>
          <a:p>
            <a:pPr marL="623888" indent="-285750" algn="just">
              <a:lnSpc>
                <a:spcPct val="100000"/>
              </a:lnSpc>
              <a:spcBef>
                <a:spcPts val="600"/>
              </a:spcBef>
            </a:pPr>
            <a:r>
              <a:rPr lang="en-US" sz="2200" dirty="0">
                <a:latin typeface="Cambria" panose="02040503050406030204" pitchFamily="18" charset="0"/>
                <a:ea typeface="Cambria" panose="02040503050406030204" pitchFamily="18" charset="0"/>
              </a:rPr>
              <a:t>Reporting and claiming of fictitious damage/loss.</a:t>
            </a:r>
          </a:p>
          <a:p>
            <a:pPr marL="52388" indent="0">
              <a:lnSpc>
                <a:spcPct val="100000"/>
              </a:lnSpc>
              <a:buNone/>
            </a:pPr>
            <a:endParaRPr lang="en-US" sz="1800" u="sng" dirty="0">
              <a:latin typeface="Cambria" panose="02040503050406030204" pitchFamily="18" charset="0"/>
              <a:ea typeface="Cambria" panose="02040503050406030204" pitchFamily="18" charset="0"/>
            </a:endParaRPr>
          </a:p>
          <a:p>
            <a:pPr marL="52388" indent="0">
              <a:lnSpc>
                <a:spcPct val="100000"/>
              </a:lnSpc>
              <a:buNone/>
            </a:pPr>
            <a:endParaRPr lang="en-US" sz="1600" dirty="0">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A17BB813-A7E5-4429-816F-891F160FBF0F}"/>
              </a:ext>
            </a:extLst>
          </p:cNvPr>
          <p:cNvSpPr>
            <a:spLocks noGrp="1"/>
          </p:cNvSpPr>
          <p:nvPr>
            <p:ph type="dt" sz="half" idx="10"/>
          </p:nvPr>
        </p:nvSpPr>
        <p:spPr/>
        <p:txBody>
          <a:bodyPr/>
          <a:lstStyle/>
          <a:p>
            <a:fld id="{D117FF5E-4818-466A-B6A5-230F9BE13F79}" type="datetime1">
              <a:rPr lang="en-US" smtClean="0"/>
              <a:t>4/30/2020</a:t>
            </a:fld>
            <a:endParaRPr lang="en-US"/>
          </a:p>
        </p:txBody>
      </p:sp>
      <p:sp>
        <p:nvSpPr>
          <p:cNvPr id="5" name="Slide Number Placeholder 4">
            <a:extLst>
              <a:ext uri="{FF2B5EF4-FFF2-40B4-BE49-F238E27FC236}">
                <a16:creationId xmlns:a16="http://schemas.microsoft.com/office/drawing/2014/main" id="{A8CE82F6-B7BA-4DE0-A562-30F00E005C55}"/>
              </a:ext>
            </a:extLst>
          </p:cNvPr>
          <p:cNvSpPr>
            <a:spLocks noGrp="1"/>
          </p:cNvSpPr>
          <p:nvPr>
            <p:ph type="sldNum" sz="quarter" idx="12"/>
          </p:nvPr>
        </p:nvSpPr>
        <p:spPr/>
        <p:txBody>
          <a:bodyPr/>
          <a:lstStyle/>
          <a:p>
            <a:fld id="{4AA01191-0D54-4503-942B-A80E3AB8E296}" type="slidenum">
              <a:rPr lang="en-US" smtClean="0"/>
              <a:t>13</a:t>
            </a:fld>
            <a:endParaRPr lang="en-US"/>
          </a:p>
        </p:txBody>
      </p:sp>
    </p:spTree>
    <p:extLst>
      <p:ext uri="{BB962C8B-B14F-4D97-AF65-F5344CB8AC3E}">
        <p14:creationId xmlns:p14="http://schemas.microsoft.com/office/powerpoint/2010/main" val="2618566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C0CB-D78A-4C98-BE9B-BF8355CDBA3A}"/>
              </a:ext>
            </a:extLst>
          </p:cNvPr>
          <p:cNvSpPr>
            <a:spLocks noGrp="1"/>
          </p:cNvSpPr>
          <p:nvPr>
            <p:ph type="title"/>
          </p:nvPr>
        </p:nvSpPr>
        <p:spPr/>
        <p:txBody>
          <a:bodyPr>
            <a:normAutofit/>
          </a:bodyPr>
          <a:lstStyle/>
          <a:p>
            <a:pPr marL="287338" algn="ctr"/>
            <a:r>
              <a:rPr lang="en-US" sz="2800" u="sng" dirty="0">
                <a:latin typeface="Cambria" panose="02040503050406030204" pitchFamily="18" charset="0"/>
                <a:ea typeface="Cambria" panose="02040503050406030204" pitchFamily="18" charset="0"/>
              </a:rPr>
              <a:t>APAC’s stand on Fraud</a:t>
            </a:r>
          </a:p>
        </p:txBody>
      </p:sp>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p:txBody>
          <a:bodyPr>
            <a:normAutofit/>
          </a:bodyPr>
          <a:lstStyle/>
          <a:p>
            <a:pPr marL="520700" indent="-342900" algn="just">
              <a:lnSpc>
                <a:spcPct val="150000"/>
              </a:lnSpc>
              <a:buFont typeface="Wingdings" panose="05000000000000000000" pitchFamily="2" charset="2"/>
              <a:buChar char="Ø"/>
            </a:pPr>
            <a:r>
              <a:rPr lang="en-US" sz="2000" dirty="0">
                <a:latin typeface="Cambria" panose="02040503050406030204" pitchFamily="18" charset="0"/>
                <a:ea typeface="Cambria" panose="02040503050406030204" pitchFamily="18" charset="0"/>
              </a:rPr>
              <a:t>APAC and its management shall always </a:t>
            </a:r>
            <a:r>
              <a:rPr lang="en-US" sz="2000" dirty="0" err="1">
                <a:latin typeface="Cambria" panose="02040503050406030204" pitchFamily="18" charset="0"/>
                <a:ea typeface="Cambria" panose="02040503050406030204" pitchFamily="18" charset="0"/>
              </a:rPr>
              <a:t>endeavour</a:t>
            </a:r>
            <a:r>
              <a:rPr lang="en-US" sz="2000" dirty="0">
                <a:latin typeface="Cambria" panose="02040503050406030204" pitchFamily="18" charset="0"/>
                <a:ea typeface="Cambria" panose="02040503050406030204" pitchFamily="18" charset="0"/>
              </a:rPr>
              <a:t> to be a fraud free zone. It shall always encourage its employees/representatives/partners to practice fair dealing and transparency. </a:t>
            </a:r>
          </a:p>
          <a:p>
            <a:pPr marL="177800" indent="0" algn="just">
              <a:lnSpc>
                <a:spcPct val="150000"/>
              </a:lnSpc>
              <a:spcBef>
                <a:spcPts val="0"/>
              </a:spcBef>
              <a:buNone/>
            </a:pPr>
            <a:endParaRPr lang="en-US" sz="2000" dirty="0">
              <a:latin typeface="Cambria" panose="02040503050406030204" pitchFamily="18" charset="0"/>
              <a:ea typeface="Cambria" panose="02040503050406030204" pitchFamily="18" charset="0"/>
            </a:endParaRPr>
          </a:p>
          <a:p>
            <a:pPr marL="520700" indent="-342900" algn="just">
              <a:lnSpc>
                <a:spcPct val="150000"/>
              </a:lnSpc>
              <a:buFont typeface="Wingdings" panose="05000000000000000000" pitchFamily="2" charset="2"/>
              <a:buChar char="Ø"/>
            </a:pPr>
            <a:r>
              <a:rPr lang="en-US" sz="2000" dirty="0">
                <a:latin typeface="Cambria" panose="02040503050406030204" pitchFamily="18" charset="0"/>
                <a:ea typeface="Cambria" panose="02040503050406030204" pitchFamily="18" charset="0"/>
              </a:rPr>
              <a:t>APAC has a zero tolerance policy on fraud. If it is detected and established that any of the employees/staffs/vendors are indulged in any kind of fraud against the organisation, strict disciplinary and legal action shall be taken against the person so involved. </a:t>
            </a:r>
          </a:p>
          <a:p>
            <a:pPr marL="177800" indent="0" algn="just">
              <a:spcBef>
                <a:spcPts val="600"/>
              </a:spcBef>
              <a:buNone/>
            </a:pPr>
            <a:endParaRPr lang="en-US" sz="24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Date Placeholder 4">
            <a:extLst>
              <a:ext uri="{FF2B5EF4-FFF2-40B4-BE49-F238E27FC236}">
                <a16:creationId xmlns:a16="http://schemas.microsoft.com/office/drawing/2014/main" id="{EE3C9F6B-E185-4822-8EC6-1C960792ED44}"/>
              </a:ext>
            </a:extLst>
          </p:cNvPr>
          <p:cNvSpPr>
            <a:spLocks noGrp="1"/>
          </p:cNvSpPr>
          <p:nvPr>
            <p:ph type="dt" sz="half" idx="10"/>
          </p:nvPr>
        </p:nvSpPr>
        <p:spPr/>
        <p:txBody>
          <a:bodyPr/>
          <a:lstStyle/>
          <a:p>
            <a:fld id="{B2FBB4D5-BAFB-408E-BA87-0DCA44934E54}" type="datetime1">
              <a:rPr lang="en-US" smtClean="0"/>
              <a:t>4/30/2020</a:t>
            </a:fld>
            <a:endParaRPr lang="en-US"/>
          </a:p>
        </p:txBody>
      </p:sp>
      <p:sp>
        <p:nvSpPr>
          <p:cNvPr id="7" name="Slide Number Placeholder 6">
            <a:extLst>
              <a:ext uri="{FF2B5EF4-FFF2-40B4-BE49-F238E27FC236}">
                <a16:creationId xmlns:a16="http://schemas.microsoft.com/office/drawing/2014/main" id="{B95E0B00-1EB3-4BAA-96D5-1902E99385F6}"/>
              </a:ext>
            </a:extLst>
          </p:cNvPr>
          <p:cNvSpPr>
            <a:spLocks noGrp="1"/>
          </p:cNvSpPr>
          <p:nvPr>
            <p:ph type="sldNum" sz="quarter" idx="12"/>
          </p:nvPr>
        </p:nvSpPr>
        <p:spPr/>
        <p:txBody>
          <a:bodyPr/>
          <a:lstStyle/>
          <a:p>
            <a:fld id="{4AA01191-0D54-4503-942B-A80E3AB8E296}" type="slidenum">
              <a:rPr lang="en-US" smtClean="0"/>
              <a:t>14</a:t>
            </a:fld>
            <a:endParaRPr lang="en-US"/>
          </a:p>
        </p:txBody>
      </p:sp>
    </p:spTree>
    <p:extLst>
      <p:ext uri="{BB962C8B-B14F-4D97-AF65-F5344CB8AC3E}">
        <p14:creationId xmlns:p14="http://schemas.microsoft.com/office/powerpoint/2010/main" val="2617865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2470E-8C3C-441B-84FE-824362A0A200}"/>
              </a:ext>
            </a:extLst>
          </p:cNvPr>
          <p:cNvSpPr>
            <a:spLocks noGrp="1"/>
          </p:cNvSpPr>
          <p:nvPr>
            <p:ph type="title"/>
          </p:nvPr>
        </p:nvSpPr>
        <p:spPr/>
        <p:txBody>
          <a:bodyPr/>
          <a:lstStyle/>
          <a:p>
            <a:pPr algn="ctr"/>
            <a:r>
              <a:rPr lang="en-US" sz="2800" u="sng" dirty="0">
                <a:latin typeface="Cambria" panose="02040503050406030204" pitchFamily="18" charset="0"/>
                <a:ea typeface="Cambria" panose="02040503050406030204" pitchFamily="18" charset="0"/>
              </a:rPr>
              <a:t>Reporting</a:t>
            </a:r>
          </a:p>
        </p:txBody>
      </p:sp>
      <p:sp>
        <p:nvSpPr>
          <p:cNvPr id="3" name="Content Placeholder 2">
            <a:extLst>
              <a:ext uri="{FF2B5EF4-FFF2-40B4-BE49-F238E27FC236}">
                <a16:creationId xmlns:a16="http://schemas.microsoft.com/office/drawing/2014/main" id="{034A347C-8563-490C-8FA3-CACBE5734739}"/>
              </a:ext>
            </a:extLst>
          </p:cNvPr>
          <p:cNvSpPr>
            <a:spLocks noGrp="1"/>
          </p:cNvSpPr>
          <p:nvPr>
            <p:ph idx="1"/>
          </p:nvPr>
        </p:nvSpPr>
        <p:spPr/>
        <p:txBody>
          <a:bodyPr>
            <a:normAutofit/>
          </a:bodyPr>
          <a:lstStyle/>
          <a:p>
            <a:pPr marL="0" indent="0" algn="just">
              <a:lnSpc>
                <a:spcPct val="150000"/>
              </a:lnSpc>
              <a:buNone/>
            </a:pPr>
            <a:r>
              <a:rPr lang="en-US" sz="2000" dirty="0">
                <a:latin typeface="Cambria" panose="02040503050406030204" pitchFamily="18" charset="0"/>
                <a:ea typeface="Cambria" panose="02040503050406030204" pitchFamily="18" charset="0"/>
              </a:rPr>
              <a:t>Any employee, in any role, as soon as they come to know of any fraud or suspect or administer any fraud or any other fraudulent activity external or internal must report such incident to their respective branch managers/credit managers/supervisor, as per the policy in place.</a:t>
            </a:r>
          </a:p>
          <a:p>
            <a:pPr marL="0" indent="0" algn="just">
              <a:lnSpc>
                <a:spcPct val="150000"/>
              </a:lnSpc>
              <a:buNone/>
            </a:pPr>
            <a:endParaRPr lang="en-US" sz="2000" dirty="0">
              <a:latin typeface="Cambria" panose="02040503050406030204" pitchFamily="18" charset="0"/>
              <a:ea typeface="Cambria" panose="02040503050406030204" pitchFamily="18" charset="0"/>
            </a:endParaRPr>
          </a:p>
          <a:p>
            <a:pPr marL="0" indent="0" algn="just">
              <a:lnSpc>
                <a:spcPct val="150000"/>
              </a:lnSpc>
              <a:buNone/>
            </a:pPr>
            <a:r>
              <a:rPr lang="en-US" sz="2000" dirty="0">
                <a:latin typeface="Cambria" panose="02040503050406030204" pitchFamily="18" charset="0"/>
                <a:ea typeface="Cambria" panose="02040503050406030204" pitchFamily="18" charset="0"/>
              </a:rPr>
              <a:t>If in case, a person is not comfortable to report to their seniors about the fraud, APAC has a </a:t>
            </a:r>
            <a:r>
              <a:rPr lang="en-US" sz="2000" u="sng" dirty="0">
                <a:latin typeface="Cambria" panose="02040503050406030204" pitchFamily="18" charset="0"/>
                <a:ea typeface="Cambria" panose="02040503050406030204" pitchFamily="18" charset="0"/>
              </a:rPr>
              <a:t>Whistle blower policy </a:t>
            </a:r>
            <a:r>
              <a:rPr lang="en-US" sz="2000" dirty="0">
                <a:latin typeface="Cambria" panose="02040503050406030204" pitchFamily="18" charset="0"/>
                <a:ea typeface="Cambria" panose="02040503050406030204" pitchFamily="18" charset="0"/>
              </a:rPr>
              <a:t>in place. </a:t>
            </a:r>
            <a:r>
              <a:rPr lang="en-IN" sz="2000" spc="-10" dirty="0">
                <a:solidFill>
                  <a:srgbClr val="000000"/>
                </a:solidFill>
                <a:latin typeface="Cambria" charset="0"/>
                <a:ea typeface="Times New Roman" charset="0"/>
                <a:cs typeface="Cambria" charset="0"/>
              </a:rPr>
              <a:t>If needed, anyone can raise a concern directly to the highest authority in the Company by writing to </a:t>
            </a:r>
            <a:r>
              <a:rPr lang="en-IN" sz="2000" spc="-10" dirty="0">
                <a:solidFill>
                  <a:srgbClr val="000000"/>
                </a:solidFill>
                <a:latin typeface="Cambria" charset="0"/>
                <a:ea typeface="Times New Roman" charset="0"/>
                <a:cs typeface="Cambria" charset="0"/>
                <a:hlinkClick r:id="rId2"/>
              </a:rPr>
              <a:t>whistleblower@apacfin.com</a:t>
            </a:r>
            <a:r>
              <a:rPr lang="en-IN" sz="2000" spc="-10" dirty="0">
                <a:solidFill>
                  <a:srgbClr val="000000"/>
                </a:solidFill>
                <a:latin typeface="Cambria" charset="0"/>
                <a:ea typeface="Times New Roman" charset="0"/>
                <a:cs typeface="Cambria" charset="0"/>
              </a:rPr>
              <a:t>.</a:t>
            </a:r>
            <a:endParaRPr lang="en-US" sz="2000" dirty="0">
              <a:latin typeface="Cambria" panose="02040503050406030204" pitchFamily="18" charset="0"/>
              <a:ea typeface="Cambria" panose="02040503050406030204" pitchFamily="18" charset="0"/>
            </a:endParaRPr>
          </a:p>
        </p:txBody>
      </p:sp>
      <p:sp>
        <p:nvSpPr>
          <p:cNvPr id="4" name="Date Placeholder 3">
            <a:extLst>
              <a:ext uri="{FF2B5EF4-FFF2-40B4-BE49-F238E27FC236}">
                <a16:creationId xmlns:a16="http://schemas.microsoft.com/office/drawing/2014/main" id="{A9685526-AE58-4C70-B192-E9591803A410}"/>
              </a:ext>
            </a:extLst>
          </p:cNvPr>
          <p:cNvSpPr>
            <a:spLocks noGrp="1"/>
          </p:cNvSpPr>
          <p:nvPr>
            <p:ph type="dt" sz="half" idx="10"/>
          </p:nvPr>
        </p:nvSpPr>
        <p:spPr/>
        <p:txBody>
          <a:bodyPr/>
          <a:lstStyle/>
          <a:p>
            <a:fld id="{7F4289F8-E23A-4BE2-80AA-B4F615E02DC4}" type="datetime1">
              <a:rPr lang="en-US" smtClean="0"/>
              <a:t>4/30/2020</a:t>
            </a:fld>
            <a:endParaRPr lang="en-US"/>
          </a:p>
        </p:txBody>
      </p:sp>
      <p:sp>
        <p:nvSpPr>
          <p:cNvPr id="5" name="Slide Number Placeholder 4">
            <a:extLst>
              <a:ext uri="{FF2B5EF4-FFF2-40B4-BE49-F238E27FC236}">
                <a16:creationId xmlns:a16="http://schemas.microsoft.com/office/drawing/2014/main" id="{D61A9963-61EA-48A9-806A-BC17E03E4AB3}"/>
              </a:ext>
            </a:extLst>
          </p:cNvPr>
          <p:cNvSpPr>
            <a:spLocks noGrp="1"/>
          </p:cNvSpPr>
          <p:nvPr>
            <p:ph type="sldNum" sz="quarter" idx="12"/>
          </p:nvPr>
        </p:nvSpPr>
        <p:spPr/>
        <p:txBody>
          <a:bodyPr/>
          <a:lstStyle/>
          <a:p>
            <a:fld id="{4AA01191-0D54-4503-942B-A80E3AB8E296}" type="slidenum">
              <a:rPr lang="en-US" smtClean="0"/>
              <a:t>15</a:t>
            </a:fld>
            <a:endParaRPr lang="en-US"/>
          </a:p>
        </p:txBody>
      </p:sp>
    </p:spTree>
    <p:extLst>
      <p:ext uri="{BB962C8B-B14F-4D97-AF65-F5344CB8AC3E}">
        <p14:creationId xmlns:p14="http://schemas.microsoft.com/office/powerpoint/2010/main" val="268353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C0CB-D78A-4C98-BE9B-BF8355CDBA3A}"/>
              </a:ext>
            </a:extLst>
          </p:cNvPr>
          <p:cNvSpPr>
            <a:spLocks noGrp="1"/>
          </p:cNvSpPr>
          <p:nvPr>
            <p:ph type="title"/>
          </p:nvPr>
        </p:nvSpPr>
        <p:spPr/>
        <p:txBody>
          <a:bodyPr>
            <a:normAutofit/>
          </a:bodyPr>
          <a:lstStyle/>
          <a:p>
            <a:pPr lvl="0" algn="ctr"/>
            <a:r>
              <a:rPr lang="en-US" sz="2800" dirty="0">
                <a:latin typeface="Cambria" panose="02040503050406030204" pitchFamily="18" charset="0"/>
                <a:ea typeface="Cambria" panose="02040503050406030204" pitchFamily="18" charset="0"/>
              </a:rPr>
              <a:t>CONCLUSION</a:t>
            </a:r>
          </a:p>
        </p:txBody>
      </p:sp>
      <p:sp>
        <p:nvSpPr>
          <p:cNvPr id="3" name="Content Placeholder 2">
            <a:extLst>
              <a:ext uri="{FF2B5EF4-FFF2-40B4-BE49-F238E27FC236}">
                <a16:creationId xmlns:a16="http://schemas.microsoft.com/office/drawing/2014/main" id="{DD235786-683F-4FD3-9063-7BEC981B02CE}"/>
              </a:ext>
            </a:extLst>
          </p:cNvPr>
          <p:cNvSpPr>
            <a:spLocks noGrp="1"/>
          </p:cNvSpPr>
          <p:nvPr>
            <p:ph idx="1"/>
          </p:nvPr>
        </p:nvSpPr>
        <p:spPr/>
        <p:txBody>
          <a:bodyPr>
            <a:normAutofit/>
          </a:bodyPr>
          <a:lstStyle/>
          <a:p>
            <a:pPr marL="0" indent="0" algn="just">
              <a:lnSpc>
                <a:spcPct val="150000"/>
              </a:lnSpc>
              <a:buNone/>
            </a:pPr>
            <a:r>
              <a:rPr lang="en-US" sz="2000" dirty="0">
                <a:latin typeface="Cambria" panose="02040503050406030204" pitchFamily="18" charset="0"/>
                <a:ea typeface="Cambria" panose="02040503050406030204" pitchFamily="18" charset="0"/>
              </a:rPr>
              <a:t>Fraud is inevitable and inherent, but a strong fraud prevention and detection program not only curb losses suffered due to fraud but will also boost the confidence and trust that APAC’s investors, auditors, shareholders, lenders will have in its ability to control its fate. APAC’s demonstrated efforts to reduce the risks of fraud, both internally and externally, shall make it a better financial service provider, business partner, better place to work, a better investment and shall also help it to be included in one of the most respected and admired financial institutions.</a:t>
            </a:r>
          </a:p>
          <a:p>
            <a:pPr marL="177800" indent="0" algn="just">
              <a:spcBef>
                <a:spcPts val="600"/>
              </a:spcBef>
              <a:buNone/>
            </a:pPr>
            <a:endParaRPr lang="en-US" sz="24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2CD1AD-0D39-4E85-B467-C3257EF2D60C}"/>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11016526" y="0"/>
            <a:ext cx="1175474" cy="1175474"/>
          </a:xfrm>
          <a:prstGeom prst="rect">
            <a:avLst/>
          </a:prstGeom>
        </p:spPr>
      </p:pic>
      <p:pic>
        <p:nvPicPr>
          <p:cNvPr id="6" name="Picture 5">
            <a:extLst>
              <a:ext uri="{FF2B5EF4-FFF2-40B4-BE49-F238E27FC236}">
                <a16:creationId xmlns:a16="http://schemas.microsoft.com/office/drawing/2014/main" id="{46D27DE1-BA95-4A7F-A461-555ED21B612A}"/>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0" y="0"/>
            <a:ext cx="1995805" cy="934720"/>
          </a:xfrm>
          <a:prstGeom prst="rect">
            <a:avLst/>
          </a:prstGeom>
          <a:noFill/>
          <a:ln>
            <a:noFill/>
          </a:ln>
        </p:spPr>
      </p:pic>
      <p:sp>
        <p:nvSpPr>
          <p:cNvPr id="5" name="Date Placeholder 4">
            <a:extLst>
              <a:ext uri="{FF2B5EF4-FFF2-40B4-BE49-F238E27FC236}">
                <a16:creationId xmlns:a16="http://schemas.microsoft.com/office/drawing/2014/main" id="{EE3C9F6B-E185-4822-8EC6-1C960792ED44}"/>
              </a:ext>
            </a:extLst>
          </p:cNvPr>
          <p:cNvSpPr>
            <a:spLocks noGrp="1"/>
          </p:cNvSpPr>
          <p:nvPr>
            <p:ph type="dt" sz="half" idx="10"/>
          </p:nvPr>
        </p:nvSpPr>
        <p:spPr/>
        <p:txBody>
          <a:bodyPr/>
          <a:lstStyle/>
          <a:p>
            <a:fld id="{B2FBB4D5-BAFB-408E-BA87-0DCA44934E54}" type="datetime1">
              <a:rPr lang="en-US" smtClean="0"/>
              <a:t>4/30/2020</a:t>
            </a:fld>
            <a:endParaRPr lang="en-US"/>
          </a:p>
        </p:txBody>
      </p:sp>
      <p:sp>
        <p:nvSpPr>
          <p:cNvPr id="7" name="Slide Number Placeholder 6">
            <a:extLst>
              <a:ext uri="{FF2B5EF4-FFF2-40B4-BE49-F238E27FC236}">
                <a16:creationId xmlns:a16="http://schemas.microsoft.com/office/drawing/2014/main" id="{B95E0B00-1EB3-4BAA-96D5-1902E99385F6}"/>
              </a:ext>
            </a:extLst>
          </p:cNvPr>
          <p:cNvSpPr>
            <a:spLocks noGrp="1"/>
          </p:cNvSpPr>
          <p:nvPr>
            <p:ph type="sldNum" sz="quarter" idx="12"/>
          </p:nvPr>
        </p:nvSpPr>
        <p:spPr/>
        <p:txBody>
          <a:bodyPr/>
          <a:lstStyle/>
          <a:p>
            <a:fld id="{4AA01191-0D54-4503-942B-A80E3AB8E296}" type="slidenum">
              <a:rPr lang="en-US" smtClean="0"/>
              <a:t>16</a:t>
            </a:fld>
            <a:endParaRPr lang="en-US"/>
          </a:p>
        </p:txBody>
      </p:sp>
    </p:spTree>
    <p:extLst>
      <p:ext uri="{BB962C8B-B14F-4D97-AF65-F5344CB8AC3E}">
        <p14:creationId xmlns:p14="http://schemas.microsoft.com/office/powerpoint/2010/main" val="1565865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355CA0B-56A1-4F16-91B4-71049B0CD5E4}"/>
              </a:ext>
            </a:extLst>
          </p:cNvPr>
          <p:cNvSpPr>
            <a:spLocks noGrp="1"/>
          </p:cNvSpPr>
          <p:nvPr>
            <p:ph type="subTitle" idx="1"/>
          </p:nvPr>
        </p:nvSpPr>
        <p:spPr>
          <a:xfrm>
            <a:off x="954899" y="1544330"/>
            <a:ext cx="9488603" cy="942975"/>
          </a:xfrm>
        </p:spPr>
        <p:txBody>
          <a:bodyPr>
            <a:normAutofit/>
          </a:bodyPr>
          <a:lstStyle/>
          <a:p>
            <a:endParaRPr lang="en-US" sz="1200" dirty="0">
              <a:solidFill>
                <a:srgbClr val="1B1B1B"/>
              </a:solidFill>
            </a:endParaRPr>
          </a:p>
          <a:p>
            <a:r>
              <a:rPr lang="en-US" sz="4000" dirty="0">
                <a:solidFill>
                  <a:srgbClr val="1B1B1B"/>
                </a:solidFill>
                <a:latin typeface="Cambria" panose="02040503050406030204" pitchFamily="18" charset="0"/>
                <a:ea typeface="Cambria" panose="02040503050406030204" pitchFamily="18" charset="0"/>
              </a:rPr>
              <a:t>Thank you!</a:t>
            </a:r>
            <a:endParaRPr lang="en-IN" sz="4000" dirty="0">
              <a:solidFill>
                <a:srgbClr val="1B1B1B"/>
              </a:solidFill>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493B236C-0699-4B74-9688-4CACEAE811CA}"/>
              </a:ext>
            </a:extLst>
          </p:cNvPr>
          <p:cNvSpPr txBox="1"/>
          <p:nvPr/>
        </p:nvSpPr>
        <p:spPr>
          <a:xfrm>
            <a:off x="3030443" y="6170066"/>
            <a:ext cx="6252609" cy="369332"/>
          </a:xfrm>
          <a:prstGeom prst="rect">
            <a:avLst/>
          </a:prstGeom>
          <a:noFill/>
        </p:spPr>
        <p:txBody>
          <a:bodyPr wrap="none" rtlCol="0">
            <a:spAutoFit/>
          </a:bodyPr>
          <a:lstStyle/>
          <a:p>
            <a:r>
              <a:rPr lang="en-IN" i="1" dirty="0">
                <a:latin typeface="Cambria" panose="02040503050406030204" pitchFamily="18" charset="0"/>
                <a:ea typeface="Cambria" panose="02040503050406030204" pitchFamily="18" charset="0"/>
              </a:rPr>
              <a:t>For any clarifications, please contact the legal and Compliance</a:t>
            </a:r>
          </a:p>
        </p:txBody>
      </p:sp>
      <p:pic>
        <p:nvPicPr>
          <p:cNvPr id="5" name="Picture 4">
            <a:extLst>
              <a:ext uri="{FF2B5EF4-FFF2-40B4-BE49-F238E27FC236}">
                <a16:creationId xmlns:a16="http://schemas.microsoft.com/office/drawing/2014/main" id="{71CB62D6-5809-4470-B5D2-972048030263}"/>
              </a:ext>
            </a:extLst>
          </p:cNvPr>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0" y="0"/>
            <a:ext cx="1571896" cy="1571896"/>
          </a:xfrm>
          <a:prstGeom prst="rect">
            <a:avLst/>
          </a:prstGeom>
        </p:spPr>
      </p:pic>
      <p:pic>
        <p:nvPicPr>
          <p:cNvPr id="6" name="Picture 5">
            <a:extLst>
              <a:ext uri="{FF2B5EF4-FFF2-40B4-BE49-F238E27FC236}">
                <a16:creationId xmlns:a16="http://schemas.microsoft.com/office/drawing/2014/main" id="{3182E961-BB63-431B-8738-F3CD682B182B}"/>
              </a:ext>
            </a:extLst>
          </p:cNvPr>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8702629" y="0"/>
            <a:ext cx="1995805" cy="934720"/>
          </a:xfrm>
          <a:prstGeom prst="rect">
            <a:avLst/>
          </a:prstGeom>
          <a:noFill/>
          <a:ln>
            <a:noFill/>
          </a:ln>
        </p:spPr>
      </p:pic>
      <p:sp>
        <p:nvSpPr>
          <p:cNvPr id="4" name="Date Placeholder 3">
            <a:extLst>
              <a:ext uri="{FF2B5EF4-FFF2-40B4-BE49-F238E27FC236}">
                <a16:creationId xmlns:a16="http://schemas.microsoft.com/office/drawing/2014/main" id="{00AE0438-DA35-47B2-B36F-88D2A443B0BA}"/>
              </a:ext>
            </a:extLst>
          </p:cNvPr>
          <p:cNvSpPr>
            <a:spLocks noGrp="1"/>
          </p:cNvSpPr>
          <p:nvPr>
            <p:ph type="dt" sz="half" idx="10"/>
          </p:nvPr>
        </p:nvSpPr>
        <p:spPr/>
        <p:txBody>
          <a:bodyPr/>
          <a:lstStyle/>
          <a:p>
            <a:fld id="{5D0CE96F-E7DB-4D85-9660-4FACFEDE707A}" type="datetime1">
              <a:rPr lang="en-US" smtClean="0"/>
              <a:t>4/30/2020</a:t>
            </a:fld>
            <a:endParaRPr lang="en-US"/>
          </a:p>
        </p:txBody>
      </p:sp>
      <p:sp>
        <p:nvSpPr>
          <p:cNvPr id="7" name="Slide Number Placeholder 6">
            <a:extLst>
              <a:ext uri="{FF2B5EF4-FFF2-40B4-BE49-F238E27FC236}">
                <a16:creationId xmlns:a16="http://schemas.microsoft.com/office/drawing/2014/main" id="{DFD3DDB8-3884-495C-9C73-3F928ABCAFB3}"/>
              </a:ext>
            </a:extLst>
          </p:cNvPr>
          <p:cNvSpPr>
            <a:spLocks noGrp="1"/>
          </p:cNvSpPr>
          <p:nvPr>
            <p:ph type="sldNum" sz="quarter" idx="12"/>
          </p:nvPr>
        </p:nvSpPr>
        <p:spPr/>
        <p:txBody>
          <a:bodyPr/>
          <a:lstStyle/>
          <a:p>
            <a:fld id="{4AA01191-0D54-4503-942B-A80E3AB8E296}" type="slidenum">
              <a:rPr lang="en-US" smtClean="0"/>
              <a:t>17</a:t>
            </a:fld>
            <a:endParaRPr lang="en-US"/>
          </a:p>
        </p:txBody>
      </p:sp>
      <p:sp>
        <p:nvSpPr>
          <p:cNvPr id="8" name="Subtitle 2">
            <a:extLst>
              <a:ext uri="{FF2B5EF4-FFF2-40B4-BE49-F238E27FC236}">
                <a16:creationId xmlns:a16="http://schemas.microsoft.com/office/drawing/2014/main" id="{666981EF-289E-4B02-8F62-2D68A55C74E4}"/>
              </a:ext>
            </a:extLst>
          </p:cNvPr>
          <p:cNvSpPr txBox="1">
            <a:spLocks/>
          </p:cNvSpPr>
          <p:nvPr/>
        </p:nvSpPr>
        <p:spPr>
          <a:xfrm>
            <a:off x="1021858" y="2819400"/>
            <a:ext cx="9488603" cy="9429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1200" dirty="0">
              <a:solidFill>
                <a:srgbClr val="1B1B1B"/>
              </a:solidFill>
            </a:endParaRPr>
          </a:p>
          <a:p>
            <a:r>
              <a:rPr lang="en-US" sz="4000" dirty="0" err="1">
                <a:solidFill>
                  <a:srgbClr val="1B1B1B"/>
                </a:solidFill>
                <a:latin typeface="Cambria" panose="02040503050406030204" pitchFamily="18" charset="0"/>
                <a:ea typeface="Cambria" panose="02040503050406030204" pitchFamily="18" charset="0"/>
              </a:rPr>
              <a:t>Savdhan</a:t>
            </a:r>
            <a:r>
              <a:rPr lang="en-US" sz="4000" dirty="0">
                <a:solidFill>
                  <a:srgbClr val="1B1B1B"/>
                </a:solidFill>
                <a:latin typeface="Cambria" panose="02040503050406030204" pitchFamily="18" charset="0"/>
                <a:ea typeface="Cambria" panose="02040503050406030204" pitchFamily="18" charset="0"/>
              </a:rPr>
              <a:t> </a:t>
            </a:r>
            <a:r>
              <a:rPr lang="en-US" sz="4000" dirty="0" err="1">
                <a:solidFill>
                  <a:srgbClr val="1B1B1B"/>
                </a:solidFill>
                <a:latin typeface="Cambria" panose="02040503050406030204" pitchFamily="18" charset="0"/>
                <a:ea typeface="Cambria" panose="02040503050406030204" pitchFamily="18" charset="0"/>
              </a:rPr>
              <a:t>Rahein</a:t>
            </a:r>
            <a:r>
              <a:rPr lang="en-US" sz="4000" dirty="0">
                <a:solidFill>
                  <a:srgbClr val="1B1B1B"/>
                </a:solidFill>
                <a:latin typeface="Cambria" panose="02040503050406030204" pitchFamily="18" charset="0"/>
                <a:ea typeface="Cambria" panose="02040503050406030204" pitchFamily="18" charset="0"/>
              </a:rPr>
              <a:t> </a:t>
            </a:r>
            <a:r>
              <a:rPr lang="en-US" sz="4000" dirty="0" err="1">
                <a:solidFill>
                  <a:srgbClr val="1B1B1B"/>
                </a:solidFill>
                <a:latin typeface="Cambria" panose="02040503050406030204" pitchFamily="18" charset="0"/>
                <a:ea typeface="Cambria" panose="02040503050406030204" pitchFamily="18" charset="0"/>
              </a:rPr>
              <a:t>Satark</a:t>
            </a:r>
            <a:r>
              <a:rPr lang="en-US" sz="4000" dirty="0">
                <a:solidFill>
                  <a:srgbClr val="1B1B1B"/>
                </a:solidFill>
                <a:latin typeface="Cambria" panose="02040503050406030204" pitchFamily="18" charset="0"/>
                <a:ea typeface="Cambria" panose="02040503050406030204" pitchFamily="18" charset="0"/>
              </a:rPr>
              <a:t> </a:t>
            </a:r>
            <a:r>
              <a:rPr lang="en-US" sz="4000" dirty="0" err="1">
                <a:solidFill>
                  <a:srgbClr val="1B1B1B"/>
                </a:solidFill>
                <a:latin typeface="Cambria" panose="02040503050406030204" pitchFamily="18" charset="0"/>
                <a:ea typeface="Cambria" panose="02040503050406030204" pitchFamily="18" charset="0"/>
              </a:rPr>
              <a:t>Rahein</a:t>
            </a:r>
            <a:r>
              <a:rPr lang="en-US" sz="4000" dirty="0">
                <a:solidFill>
                  <a:srgbClr val="1B1B1B"/>
                </a:solidFill>
                <a:latin typeface="Cambria" panose="02040503050406030204" pitchFamily="18" charset="0"/>
                <a:ea typeface="Cambria" panose="02040503050406030204" pitchFamily="18" charset="0"/>
              </a:rPr>
              <a:t>!!</a:t>
            </a:r>
            <a:endParaRPr lang="en-IN" sz="4000" dirty="0">
              <a:solidFill>
                <a:srgbClr val="1B1B1B"/>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77783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1025</TotalTime>
  <Words>2031</Words>
  <Application>Microsoft Office PowerPoint</Application>
  <PresentationFormat>Widescreen</PresentationFormat>
  <Paragraphs>198</Paragraphs>
  <Slides>17</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17</vt:i4>
      </vt:variant>
    </vt:vector>
  </HeadingPairs>
  <TitlesOfParts>
    <vt:vector size="26" baseType="lpstr">
      <vt:lpstr>Arial</vt:lpstr>
      <vt:lpstr>Calibri</vt:lpstr>
      <vt:lpstr>Calibri Light</vt:lpstr>
      <vt:lpstr>Cambria</vt:lpstr>
      <vt:lpstr>Courier New</vt:lpstr>
      <vt:lpstr>Tw Cen MT</vt:lpstr>
      <vt:lpstr>Wingdings</vt:lpstr>
      <vt:lpstr>Office Theme</vt:lpstr>
      <vt:lpstr>1_Office Theme</vt:lpstr>
      <vt:lpstr>PowerPoint Presentation</vt:lpstr>
      <vt:lpstr>OBJECTIVE</vt:lpstr>
      <vt:lpstr>Categories of Fraud</vt:lpstr>
      <vt:lpstr>External Fraud</vt:lpstr>
      <vt:lpstr>Title Fraud</vt:lpstr>
      <vt:lpstr>PowerPoint Presentation</vt:lpstr>
      <vt:lpstr>Collusion between DSA/channel partners/vendors and customers</vt:lpstr>
      <vt:lpstr>Critical document fraud</vt:lpstr>
      <vt:lpstr>Own Contribution Money (OCR) </vt:lpstr>
      <vt:lpstr>PowerPoint Presentation</vt:lpstr>
      <vt:lpstr>Internal Fraud</vt:lpstr>
      <vt:lpstr>PowerPoint Presentation</vt:lpstr>
      <vt:lpstr>PowerPoint Presentation</vt:lpstr>
      <vt:lpstr>APAC’s stand on Fraud</vt:lpstr>
      <vt:lpstr>Reporting</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Suprabhat Pathak</dc:creator>
  <cp:lastModifiedBy>Suprabhat Pathak</cp:lastModifiedBy>
  <cp:revision>66</cp:revision>
  <dcterms:created xsi:type="dcterms:W3CDTF">2020-04-19T12:23:27Z</dcterms:created>
  <dcterms:modified xsi:type="dcterms:W3CDTF">2020-04-30T08:04:51Z</dcterms:modified>
</cp:coreProperties>
</file>